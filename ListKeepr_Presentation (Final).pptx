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954B023-D206-472F-9F6B-480C6D90B21E}" v="1" dt="2026-05-08T22:02:19.2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425" autoAdjust="0"/>
  </p:normalViewPr>
  <p:slideViewPr>
    <p:cSldViewPr snapToGrid="0" snapToObjects="1">
      <p:cViewPr>
        <p:scale>
          <a:sx n="66" d="100"/>
          <a:sy n="66" d="100"/>
        </p:scale>
        <p:origin x="1301" y="49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naris 🎶" userId="bc2c58d1707560b5" providerId="LiveId" clId="{6CEA0332-502E-4B95-8229-A537EDF526E3}"/>
    <pc:docChg chg="undo custSel modSld">
      <pc:chgData name="Lunaris 🎶" userId="bc2c58d1707560b5" providerId="LiveId" clId="{6CEA0332-502E-4B95-8229-A537EDF526E3}" dt="2026-05-08T22:02:32.111" v="24" actId="1076"/>
      <pc:docMkLst>
        <pc:docMk/>
      </pc:docMkLst>
      <pc:sldChg chg="modSp mod">
        <pc:chgData name="Lunaris 🎶" userId="bc2c58d1707560b5" providerId="LiveId" clId="{6CEA0332-502E-4B95-8229-A537EDF526E3}" dt="2026-05-08T21:32:51.423" v="21" actId="20577"/>
        <pc:sldMkLst>
          <pc:docMk/>
          <pc:sldMk cId="0" sldId="282"/>
        </pc:sldMkLst>
        <pc:spChg chg="mod">
          <ac:chgData name="Lunaris 🎶" userId="bc2c58d1707560b5" providerId="LiveId" clId="{6CEA0332-502E-4B95-8229-A537EDF526E3}" dt="2026-05-08T21:31:35.337" v="2" actId="20577"/>
          <ac:spMkLst>
            <pc:docMk/>
            <pc:sldMk cId="0" sldId="282"/>
            <ac:spMk id="23" creationId="{00000000-0000-0000-0000-000000000000}"/>
          </ac:spMkLst>
        </pc:spChg>
        <pc:spChg chg="mod">
          <ac:chgData name="Lunaris 🎶" userId="bc2c58d1707560b5" providerId="LiveId" clId="{6CEA0332-502E-4B95-8229-A537EDF526E3}" dt="2026-05-08T21:32:47.214" v="15" actId="20577"/>
          <ac:spMkLst>
            <pc:docMk/>
            <pc:sldMk cId="0" sldId="282"/>
            <ac:spMk id="27" creationId="{00000000-0000-0000-0000-000000000000}"/>
          </ac:spMkLst>
        </pc:spChg>
        <pc:spChg chg="mod">
          <ac:chgData name="Lunaris 🎶" userId="bc2c58d1707560b5" providerId="LiveId" clId="{6CEA0332-502E-4B95-8229-A537EDF526E3}" dt="2026-05-08T21:31:45.088" v="6" actId="20577"/>
          <ac:spMkLst>
            <pc:docMk/>
            <pc:sldMk cId="0" sldId="282"/>
            <ac:spMk id="33" creationId="{00000000-0000-0000-0000-000000000000}"/>
          </ac:spMkLst>
        </pc:spChg>
        <pc:spChg chg="mod">
          <ac:chgData name="Lunaris 🎶" userId="bc2c58d1707560b5" providerId="LiveId" clId="{6CEA0332-502E-4B95-8229-A537EDF526E3}" dt="2026-05-08T21:31:49.380" v="10" actId="20577"/>
          <ac:spMkLst>
            <pc:docMk/>
            <pc:sldMk cId="0" sldId="282"/>
            <ac:spMk id="35" creationId="{00000000-0000-0000-0000-000000000000}"/>
          </ac:spMkLst>
        </pc:spChg>
        <pc:spChg chg="mod">
          <ac:chgData name="Lunaris 🎶" userId="bc2c58d1707560b5" providerId="LiveId" clId="{6CEA0332-502E-4B95-8229-A537EDF526E3}" dt="2026-05-08T21:32:51.423" v="21" actId="20577"/>
          <ac:spMkLst>
            <pc:docMk/>
            <pc:sldMk cId="0" sldId="282"/>
            <ac:spMk id="36" creationId="{00000000-0000-0000-0000-000000000000}"/>
          </ac:spMkLst>
        </pc:spChg>
      </pc:sldChg>
      <pc:sldChg chg="modSp mod">
        <pc:chgData name="Lunaris 🎶" userId="bc2c58d1707560b5" providerId="LiveId" clId="{6CEA0332-502E-4B95-8229-A537EDF526E3}" dt="2026-05-08T22:02:32.111" v="24" actId="1076"/>
        <pc:sldMkLst>
          <pc:docMk/>
          <pc:sldMk cId="0" sldId="286"/>
        </pc:sldMkLst>
        <pc:spChg chg="mod">
          <ac:chgData name="Lunaris 🎶" userId="bc2c58d1707560b5" providerId="LiveId" clId="{6CEA0332-502E-4B95-8229-A537EDF526E3}" dt="2026-05-08T22:02:26.532" v="23" actId="1076"/>
          <ac:spMkLst>
            <pc:docMk/>
            <pc:sldMk cId="0" sldId="286"/>
            <ac:spMk id="8" creationId="{00000000-0000-0000-0000-000000000000}"/>
          </ac:spMkLst>
        </pc:spChg>
        <pc:spChg chg="mod">
          <ac:chgData name="Lunaris 🎶" userId="bc2c58d1707560b5" providerId="LiveId" clId="{6CEA0332-502E-4B95-8229-A537EDF526E3}" dt="2026-05-08T22:02:32.111" v="24" actId="1076"/>
          <ac:spMkLst>
            <pc:docMk/>
            <pc:sldMk cId="0" sldId="286"/>
            <ac:spMk id="10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users/Lunaris47/projects/2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1828800"/>
          </a:xfrm>
          <a:prstGeom prst="rect">
            <a:avLst/>
          </a:prstGeom>
          <a:solidFill>
            <a:srgbClr val="2A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12745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A78BFA"/>
                </a:solidFill>
              </a:rPr>
              <a:t>ListKeepr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70332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9999AA"/>
                </a:solidFill>
              </a:rPr>
              <a:t>Android List Management App  ·  CISC 4900 Work-Study  ·  Spring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E8E8F0"/>
                </a:solidFill>
              </a:rPr>
              <a:t>Jesse Sciamanna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5486400"/>
            <a:ext cx="3959352" cy="548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164592"/>
            <a:ext cx="2011680" cy="29260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82879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1E2E"/>
                </a:solidFill>
              </a:rPr>
              <a:t>TEAM &amp; STAKEHOLDERS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16459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Stakeholders &amp; Organizational 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74552" cy="18288"/>
          </a:xfrm>
          <a:prstGeom prst="rect">
            <a:avLst/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2651760" cy="2194560"/>
          </a:xfrm>
          <a:prstGeom prst="rect">
            <a:avLst/>
          </a:prstGeom>
          <a:solidFill>
            <a:srgbClr val="2E2E42"/>
          </a:solidFill>
          <a:ln w="6350">
            <a:solidFill>
              <a:srgbClr val="3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48132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</a:rPr>
              <a:t>Jesse Sciamanna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2377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F0"/>
                </a:solidFill>
              </a:rPr>
              <a:t>Primary Developer &amp; Project Owner
All phases: design, implementation, testing, documentation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1371600"/>
            <a:ext cx="2651760" cy="2194560"/>
          </a:xfrm>
          <a:prstGeom prst="rect">
            <a:avLst/>
          </a:prstGeom>
          <a:solidFill>
            <a:srgbClr val="2E2E42"/>
          </a:solidFill>
          <a:ln w="6350">
            <a:solidFill>
              <a:srgbClr val="3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83279" y="148132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</a:rPr>
              <a:t>Dr. Shalva S. Landy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79" y="1874519"/>
            <a:ext cx="2377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F0"/>
                </a:solidFill>
              </a:rPr>
              <a:t>Course Instructor &amp; Supervisor
Evaluates progress · Provides guidance · Periodic check-ins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371600"/>
            <a:ext cx="2651760" cy="2194560"/>
          </a:xfrm>
          <a:prstGeom prst="rect">
            <a:avLst/>
          </a:prstGeom>
          <a:solidFill>
            <a:srgbClr val="2E2E42"/>
          </a:solidFill>
          <a:ln w="6350">
            <a:solidFill>
              <a:srgbClr val="3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63640" y="148132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</a:rPr>
              <a:t>Class Peers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1874519"/>
            <a:ext cx="2377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F0"/>
                </a:solidFill>
              </a:rPr>
              <a:t>Peer Reviewers
Feedback during reviews and discussions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6840" y="1371600"/>
            <a:ext cx="2651760" cy="2194560"/>
          </a:xfrm>
          <a:prstGeom prst="rect">
            <a:avLst/>
          </a:prstGeom>
          <a:solidFill>
            <a:srgbClr val="2E2E42"/>
          </a:solidFill>
          <a:ln w="6350">
            <a:solidFill>
              <a:srgbClr val="3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0" y="148132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</a:rPr>
              <a:t>End Users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1874519"/>
            <a:ext cx="2377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F0"/>
                </a:solidFill>
              </a:rPr>
              <a:t>Target Audience
Individuals managing daily tasks, shopping, and schedules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8404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999AA"/>
                </a:solidFill>
              </a:rPr>
              <a:t>Reporting: Independent work-study. Self-directed backlog with periodic supervisor check-ins.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164592"/>
            <a:ext cx="2011680" cy="29260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82879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1E2E"/>
                </a:solidFill>
              </a:rPr>
              <a:t>PROJECT ABSTRACT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16459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What Is ListKeepr?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74552" cy="18288"/>
          </a:xfrm>
          <a:prstGeom prst="rect">
            <a:avLst/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7132320" cy="3200400"/>
          </a:xfrm>
          <a:prstGeom prst="rect">
            <a:avLst/>
          </a:prstGeom>
          <a:solidFill>
            <a:srgbClr val="2E2E42"/>
          </a:solidFill>
          <a:ln w="6350">
            <a:solidFill>
              <a:srgbClr val="3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67665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E8F0"/>
                </a:solidFill>
              </a:rPr>
              <a:t>ListKeepr is a fully offline Android list management app inspired by tools like Google Keep. It allows users to create, organize, and manage multiple lists within a clean, intuitive dark-themed interface.
The app focuses on usability and modular design, leveraging Android frameworks such as RecyclerView and Activity navigation to provide a responsive, event-driven user experience.
Core principles: human-computer interaction, event-driven programming, and structured software architecture — all while building a practical everyday tool.</a:t>
            </a:r>
          </a:p>
        </p:txBody>
      </p:sp>
      <p:sp>
        <p:nvSpPr>
          <p:cNvPr id="8" name="Rectangle 7"/>
          <p:cNvSpPr/>
          <p:nvPr/>
        </p:nvSpPr>
        <p:spPr>
          <a:xfrm>
            <a:off x="7863840" y="1280160"/>
            <a:ext cx="3840480" cy="3200400"/>
          </a:xfrm>
          <a:prstGeom prst="rect">
            <a:avLst/>
          </a:prstGeom>
          <a:solidFill>
            <a:srgbClr val="2E2E42"/>
          </a:solidFill>
          <a:ln w="6350">
            <a:solidFill>
              <a:srgbClr val="3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01000" y="138988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</a:rPr>
              <a:t>Key Pillars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0" y="1783080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F0"/>
                </a:solidFill>
              </a:rPr>
              <a:t>📱  Android-Native (Java)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2212848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F0"/>
                </a:solidFill>
              </a:rPr>
              <a:t>💾  Offline-First (SharedPreferences + Gson)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2642615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F0"/>
                </a:solidFill>
              </a:rPr>
              <a:t>🔁  Recurring List &amp; Item Automation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3072384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F0"/>
                </a:solidFill>
              </a:rPr>
              <a:t>🔔  Item Reminders &amp; Notifications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3502152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F0"/>
                </a:solidFill>
              </a:rPr>
              <a:t>🌓  Light / Dark Mode Toggle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3931920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F0"/>
                </a:solidFill>
              </a:rPr>
              <a:t>📂  Sections, Favorites &amp; Archive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164592"/>
            <a:ext cx="2011680" cy="29260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82879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1E2E"/>
                </a:solidFill>
              </a:rPr>
              <a:t>TEAM &amp; ROLE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16459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My Role as Sole Developer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74552" cy="18288"/>
          </a:xfrm>
          <a:prstGeom prst="rect">
            <a:avLst/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5303520" cy="3017520"/>
          </a:xfrm>
          <a:prstGeom prst="rect">
            <a:avLst/>
          </a:prstGeom>
          <a:solidFill>
            <a:srgbClr val="2E2E42"/>
          </a:solidFill>
          <a:ln w="6350">
            <a:solidFill>
              <a:srgbClr val="3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</a:rPr>
              <a:t>Responsibilities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F0"/>
                </a:solidFill>
              </a:rPr>
              <a:t>▸  Full-stack Android development (UI, logic, data persistence)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04288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F0"/>
                </a:solidFill>
              </a:rPr>
              <a:t>▸  Architecture decisions and data modeling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79776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F0"/>
                </a:solidFill>
              </a:rPr>
              <a:t>▸  Feature prioritization and sprint planning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55264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F0"/>
                </a:solidFill>
              </a:rPr>
              <a:t>▸  Documentation, diagrams, and 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30752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F0"/>
                </a:solidFill>
              </a:rPr>
              <a:t>▸  All testing and debugging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325880"/>
            <a:ext cx="5852160" cy="3017520"/>
          </a:xfrm>
          <a:prstGeom prst="rect">
            <a:avLst/>
          </a:prstGeom>
          <a:solidFill>
            <a:srgbClr val="2E2E42"/>
          </a:solidFill>
          <a:ln w="6350">
            <a:solidFill>
              <a:srgbClr val="3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26480" y="1417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BBF24"/>
                </a:solidFill>
              </a:rPr>
              <a:t>Unexpected Realities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18288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</a:rPr>
              <a:t>▸  Significant learning curve: Activity lifecycle, RecyclerView adapters, SharedPreferences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24231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</a:rPr>
              <a:t>▸  More time than expected spent on architecture decisions as features scaled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30175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</a:rPr>
              <a:t>▸  Debugging RecyclerView index-sync bugs between visibleLists and shoppingLists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361188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</a:rPr>
              <a:t>▸  Setting up AlarmManager for item-level reminders required deep Android API research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45720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999AA"/>
                </a:solidFill>
              </a:rPr>
              <a:t>Project Type: Independent Work-Study  ·  Institution: Brooklyn College  ·  Term: Spring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164592"/>
            <a:ext cx="2011680" cy="29260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82879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1E2E"/>
                </a:solidFill>
              </a:rPr>
              <a:t>TOOLS &amp; 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16459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Tools and Technologies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74552" cy="18288"/>
          </a:xfrm>
          <a:prstGeom prst="rect">
            <a:avLst/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3657600" cy="1691640"/>
          </a:xfrm>
          <a:prstGeom prst="rect">
            <a:avLst/>
          </a:prstGeom>
          <a:solidFill>
            <a:srgbClr val="2E2E42"/>
          </a:solidFill>
          <a:ln w="6350">
            <a:solidFill>
              <a:srgbClr val="3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48132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</a:rPr>
              <a:t>Android Studio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F0"/>
                </a:solidFill>
              </a:rPr>
              <a:t>Primary IDE for development,
debugging &amp; emulation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371600"/>
            <a:ext cx="3657600" cy="1691640"/>
          </a:xfrm>
          <a:prstGeom prst="rect">
            <a:avLst/>
          </a:prstGeom>
          <a:solidFill>
            <a:srgbClr val="2E2E42"/>
          </a:solidFill>
          <a:ln w="6350">
            <a:solidFill>
              <a:srgbClr val="3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34840" y="148132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</a:rPr>
              <a:t>Java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1874519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F0"/>
                </a:solidFill>
              </a:rPr>
              <a:t>Application logic,
event handling, adapters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371600"/>
            <a:ext cx="3657600" cy="1691640"/>
          </a:xfrm>
          <a:prstGeom prst="rect">
            <a:avLst/>
          </a:prstGeom>
          <a:solidFill>
            <a:srgbClr val="2E2E42"/>
          </a:solidFill>
          <a:ln w="6350">
            <a:solidFill>
              <a:srgbClr val="3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66760" y="148132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</a:rPr>
              <a:t>Android SDK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1874519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F0"/>
                </a:solidFill>
              </a:rPr>
              <a:t>RecyclerView, AlarmManager,
SharedPreferences, Intents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291840"/>
            <a:ext cx="3657600" cy="1691640"/>
          </a:xfrm>
          <a:prstGeom prst="rect">
            <a:avLst/>
          </a:prstGeom>
          <a:solidFill>
            <a:srgbClr val="2E2E42"/>
          </a:solidFill>
          <a:ln w="6350">
            <a:solidFill>
              <a:srgbClr val="3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340156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</a:rPr>
              <a:t>Gson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79476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F0"/>
                </a:solidFill>
              </a:rPr>
              <a:t>JSON serialization for
data persistence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3291840"/>
            <a:ext cx="3657600" cy="1691640"/>
          </a:xfrm>
          <a:prstGeom prst="rect">
            <a:avLst/>
          </a:prstGeom>
          <a:solidFill>
            <a:srgbClr val="2E2E42"/>
          </a:solidFill>
          <a:ln w="6350">
            <a:solidFill>
              <a:srgbClr val="3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34840" y="340156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</a:rPr>
              <a:t>Git &amp; GitHub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379476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F0"/>
                </a:solidFill>
              </a:rPr>
              <a:t>Version control,
commit history, project tracking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3291840"/>
            <a:ext cx="3657600" cy="1691640"/>
          </a:xfrm>
          <a:prstGeom prst="rect">
            <a:avLst/>
          </a:prstGeom>
          <a:solidFill>
            <a:srgbClr val="2E2E42"/>
          </a:solidFill>
          <a:ln w="6350">
            <a:solidFill>
              <a:srgbClr val="3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66760" y="340156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</a:rPr>
              <a:t>draw.io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379476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F0"/>
                </a:solidFill>
              </a:rPr>
              <a:t>Technical diagrams:
DFDs, architecture, flowcharts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164592"/>
            <a:ext cx="2011680" cy="29260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82879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1E2E"/>
                </a:solidFill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16459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System Architecture — Updated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74552" cy="18288"/>
          </a:xfrm>
          <a:prstGeom prst="rect">
            <a:avLst/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2194560" cy="502920"/>
          </a:xfrm>
          <a:prstGeom prst="rect">
            <a:avLst/>
          </a:prstGeom>
          <a:solidFill>
            <a:srgbClr val="2A2A3D"/>
          </a:solidFill>
          <a:ln w="6350">
            <a:solidFill>
              <a:srgbClr val="3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53619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8E8F0"/>
                </a:solidFill>
              </a:rPr>
              <a:t>User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1463040"/>
            <a:ext cx="2560320" cy="502920"/>
          </a:xfrm>
          <a:prstGeom prst="rect">
            <a:avLst/>
          </a:prstGeom>
          <a:solidFill>
            <a:srgbClr val="A78BFA"/>
          </a:solidFill>
          <a:ln w="6350">
            <a:solidFill>
              <a:srgbClr val="3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86200" y="1536192"/>
            <a:ext cx="24688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1E2E"/>
                </a:solidFill>
              </a:rPr>
              <a:t>MainActivity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0" y="2560320"/>
            <a:ext cx="2560320" cy="502920"/>
          </a:xfrm>
          <a:prstGeom prst="rect">
            <a:avLst/>
          </a:prstGeom>
          <a:solidFill>
            <a:srgbClr val="2A2A3D"/>
          </a:solidFill>
          <a:ln w="6350">
            <a:solidFill>
              <a:srgbClr val="3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86200" y="2633472"/>
            <a:ext cx="24688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8E8F0"/>
                </a:solidFill>
              </a:rPr>
              <a:t>RecyclerView Grid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657600"/>
            <a:ext cx="2194560" cy="502920"/>
          </a:xfrm>
          <a:prstGeom prst="rect">
            <a:avLst/>
          </a:prstGeom>
          <a:solidFill>
            <a:srgbClr val="2A2A3D"/>
          </a:solidFill>
          <a:ln w="6350">
            <a:solidFill>
              <a:srgbClr val="3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373075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8E8F0"/>
                </a:solidFill>
              </a:rPr>
              <a:t>ListAdapter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0" y="3657600"/>
            <a:ext cx="2560320" cy="502920"/>
          </a:xfrm>
          <a:prstGeom prst="rect">
            <a:avLst/>
          </a:prstGeom>
          <a:solidFill>
            <a:srgbClr val="2A2A3D"/>
          </a:solidFill>
          <a:ln w="6350">
            <a:solidFill>
              <a:srgbClr val="3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886200" y="3730752"/>
            <a:ext cx="24688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8E8F0"/>
                </a:solidFill>
              </a:rPr>
              <a:t>ArchivedListAdapter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0" y="3657600"/>
            <a:ext cx="2194560" cy="502920"/>
          </a:xfrm>
          <a:prstGeom prst="rect">
            <a:avLst/>
          </a:prstGeom>
          <a:solidFill>
            <a:srgbClr val="2A2A3D"/>
          </a:solidFill>
          <a:ln w="6350">
            <a:solidFill>
              <a:srgbClr val="3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03720" y="373075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8E8F0"/>
                </a:solidFill>
              </a:rPr>
              <a:t>ItemAdapter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4846320"/>
            <a:ext cx="1828800" cy="502920"/>
          </a:xfrm>
          <a:prstGeom prst="rect">
            <a:avLst/>
          </a:prstGeom>
          <a:solidFill>
            <a:srgbClr val="6EE7B7"/>
          </a:solidFill>
          <a:ln w="6350">
            <a:solidFill>
              <a:srgbClr val="3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491947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1E2E"/>
                </a:solidFill>
              </a:rPr>
              <a:t>ShoppingList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4846320"/>
            <a:ext cx="1828800" cy="502920"/>
          </a:xfrm>
          <a:prstGeom prst="rect">
            <a:avLst/>
          </a:prstGeom>
          <a:solidFill>
            <a:srgbClr val="6EE7B7"/>
          </a:solidFill>
          <a:ln w="6350">
            <a:solidFill>
              <a:srgbClr val="3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063239" y="491947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1E2E"/>
                </a:solidFill>
              </a:rPr>
              <a:t>ListSection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12080" y="4846320"/>
            <a:ext cx="1828800" cy="502920"/>
          </a:xfrm>
          <a:prstGeom prst="rect">
            <a:avLst/>
          </a:prstGeom>
          <a:solidFill>
            <a:srgbClr val="6EE7B7"/>
          </a:solidFill>
          <a:ln w="6350">
            <a:solidFill>
              <a:srgbClr val="3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257800" y="491947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1E2E"/>
                </a:solidFill>
              </a:rPr>
              <a:t>ShoppingItem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06640" y="4846320"/>
            <a:ext cx="1828800" cy="502920"/>
          </a:xfrm>
          <a:prstGeom prst="rect">
            <a:avLst/>
          </a:prstGeom>
          <a:solidFill>
            <a:srgbClr val="2E2E42"/>
          </a:solidFill>
          <a:ln w="6350">
            <a:solidFill>
              <a:srgbClr val="3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52360" y="491947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8E8F0"/>
                </a:solidFill>
              </a:rPr>
              <a:t>ReminderReceiver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26880" y="1463040"/>
            <a:ext cx="274320" cy="274320"/>
          </a:xfrm>
          <a:prstGeom prst="rect">
            <a:avLst/>
          </a:prstGeom>
          <a:solidFill>
            <a:srgbClr val="2A2A3D"/>
          </a:solidFill>
          <a:ln w="6350">
            <a:solidFill>
              <a:srgbClr val="3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674352" y="14813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AA"/>
                </a:solidFill>
              </a:rPr>
              <a:t>User Interaction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26880" y="1920240"/>
            <a:ext cx="274320" cy="274320"/>
          </a:xfrm>
          <a:prstGeom prst="rect">
            <a:avLst/>
          </a:prstGeom>
          <a:solidFill>
            <a:srgbClr val="A78BFA"/>
          </a:solidFill>
          <a:ln w="6350">
            <a:solidFill>
              <a:srgbClr val="3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674352" y="19385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AA"/>
                </a:solidFill>
              </a:rPr>
              <a:t>Logic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326880" y="2377440"/>
            <a:ext cx="274320" cy="274320"/>
          </a:xfrm>
          <a:prstGeom prst="rect">
            <a:avLst/>
          </a:prstGeom>
          <a:solidFill>
            <a:srgbClr val="6EE7B7"/>
          </a:solidFill>
          <a:ln w="6350">
            <a:solidFill>
              <a:srgbClr val="3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674352" y="23957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AA"/>
                </a:solidFill>
              </a:rPr>
              <a:t>Data Model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326880" y="2834640"/>
            <a:ext cx="274320" cy="274320"/>
          </a:xfrm>
          <a:prstGeom prst="rect">
            <a:avLst/>
          </a:prstGeom>
          <a:solidFill>
            <a:srgbClr val="2E2E42"/>
          </a:solidFill>
          <a:ln w="6350">
            <a:solidFill>
              <a:srgbClr val="3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674352" y="28529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AA"/>
                </a:solidFill>
              </a:rPr>
              <a:t>Broadcast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0350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999AA"/>
                </a:solidFill>
              </a:rPr>
              <a:t>Data stored via SharedPreferences + Gson  ·  AlarmManager → ReminderReceiver for item notifications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164592"/>
            <a:ext cx="2011680" cy="29260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82879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1E2E"/>
                </a:solidFill>
              </a:rPr>
              <a:t>DATA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16459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Data Flow — List Selection Process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74552" cy="18288"/>
          </a:xfrm>
          <a:prstGeom prst="rect">
            <a:avLst/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371600" y="1371600"/>
            <a:ext cx="6400800" cy="502920"/>
          </a:xfrm>
          <a:prstGeom prst="rect">
            <a:avLst/>
          </a:prstGeom>
          <a:solidFill>
            <a:srgbClr val="A78BFA"/>
          </a:solidFill>
          <a:ln w="6350">
            <a:solidFill>
              <a:srgbClr val="3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08760" y="1463040"/>
            <a:ext cx="6126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1E2E"/>
                </a:solidFill>
              </a:rPr>
              <a:t>1. User taps list 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874519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78BFA"/>
                </a:solidFill>
              </a:rPr>
              <a:t>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2002536"/>
            <a:ext cx="6400800" cy="502920"/>
          </a:xfrm>
          <a:prstGeom prst="rect">
            <a:avLst/>
          </a:prstGeom>
          <a:solidFill>
            <a:srgbClr val="2A2A3D"/>
          </a:solidFill>
          <a:ln w="6350">
            <a:solidFill>
              <a:srgbClr val="3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508760" y="2093976"/>
            <a:ext cx="6126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E8F0"/>
                </a:solidFill>
              </a:rPr>
              <a:t>2. ListAdapter handles click event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505456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78BFA"/>
                </a:solidFill>
              </a:rPr>
              <a:t>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2633472"/>
            <a:ext cx="6400800" cy="502920"/>
          </a:xfrm>
          <a:prstGeom prst="rect">
            <a:avLst/>
          </a:prstGeom>
          <a:solidFill>
            <a:srgbClr val="A78BFA"/>
          </a:solidFill>
          <a:ln w="6350">
            <a:solidFill>
              <a:srgbClr val="3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508760" y="2724912"/>
            <a:ext cx="6126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1E2E"/>
                </a:solidFill>
              </a:rPr>
              <a:t>3. Intent sends list_index to ListDetailActivity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3136391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78BFA"/>
                </a:solidFill>
              </a:rPr>
              <a:t>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71600" y="3264408"/>
            <a:ext cx="6400800" cy="502920"/>
          </a:xfrm>
          <a:prstGeom prst="rect">
            <a:avLst/>
          </a:prstGeom>
          <a:solidFill>
            <a:srgbClr val="2A2A3D"/>
          </a:solidFill>
          <a:ln w="6350">
            <a:solidFill>
              <a:srgbClr val="3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508760" y="3355848"/>
            <a:ext cx="6126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E8F0"/>
                </a:solidFill>
              </a:rPr>
              <a:t>4. ListDetailActivity receives index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37673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78BFA"/>
                </a:solidFill>
              </a:rPr>
              <a:t>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71600" y="3895344"/>
            <a:ext cx="6400800" cy="502920"/>
          </a:xfrm>
          <a:prstGeom prst="rect">
            <a:avLst/>
          </a:prstGeom>
          <a:solidFill>
            <a:srgbClr val="A78BFA"/>
          </a:solidFill>
          <a:ln w="6350">
            <a:solidFill>
              <a:srgbClr val="3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508760" y="3986783"/>
            <a:ext cx="6126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1E2E"/>
                </a:solidFill>
              </a:rPr>
              <a:t>5. ShoppingList retrieved from shoppingLists[]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439826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78BFA"/>
                </a:solidFill>
              </a:rPr>
              <a:t>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0" y="4526279"/>
            <a:ext cx="6400800" cy="502920"/>
          </a:xfrm>
          <a:prstGeom prst="rect">
            <a:avLst/>
          </a:prstGeom>
          <a:solidFill>
            <a:srgbClr val="2A2A3D"/>
          </a:solidFill>
          <a:ln w="6350">
            <a:solidFill>
              <a:srgbClr val="3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508760" y="4617719"/>
            <a:ext cx="6126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E8F0"/>
                </a:solidFill>
              </a:rPr>
              <a:t>6. ItemAdapter displays sections &amp; items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5029199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78BFA"/>
                </a:solidFill>
              </a:rPr>
              <a:t>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71600" y="5157216"/>
            <a:ext cx="6400800" cy="502920"/>
          </a:xfrm>
          <a:prstGeom prst="rect">
            <a:avLst/>
          </a:prstGeom>
          <a:solidFill>
            <a:srgbClr val="A78BFA"/>
          </a:solidFill>
          <a:ln w="6350">
            <a:solidFill>
              <a:srgbClr val="3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508760" y="5248655"/>
            <a:ext cx="6126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1E2E"/>
                </a:solidFill>
              </a:rPr>
              <a:t>7. RecyclerView renders updated UI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1371600"/>
            <a:ext cx="3474720" cy="4114800"/>
          </a:xfrm>
          <a:prstGeom prst="rect">
            <a:avLst/>
          </a:prstGeom>
          <a:solidFill>
            <a:srgbClr val="2E2E42"/>
          </a:solidFill>
          <a:ln w="6350">
            <a:solidFill>
              <a:srgbClr val="3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66760" y="1463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</a:rPr>
              <a:t>Key Notes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19202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F0"/>
                </a:solidFill>
              </a:rPr>
              <a:t>▸  Data lives in static shoppingLists list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2542032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F0"/>
                </a:solidFill>
              </a:rPr>
              <a:t>▸  visibleLists filters archived items out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3163824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F0"/>
                </a:solidFill>
              </a:rPr>
              <a:t>▸  Index passed via Intent extras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60" y="3785616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F0"/>
                </a:solidFill>
              </a:rPr>
              <a:t>▸  onResume() refreshes visible lists on return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60" y="4407408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F0"/>
                </a:solidFill>
              </a:rPr>
              <a:t>▸  All saves go through saveData(Context)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164592"/>
            <a:ext cx="2011680" cy="29260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82879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1E2E"/>
                </a:solidFill>
              </a:rPr>
              <a:t>DATA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16459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Data Model — Updated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74552" cy="18288"/>
          </a:xfrm>
          <a:prstGeom prst="rect">
            <a:avLst/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3474720" cy="3840480"/>
          </a:xfrm>
          <a:prstGeom prst="rect">
            <a:avLst/>
          </a:prstGeom>
          <a:solidFill>
            <a:srgbClr val="2A2A3D"/>
          </a:solidFill>
          <a:ln w="6350">
            <a:solidFill>
              <a:srgbClr val="3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</a:rPr>
              <a:t>ShoppingList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783080"/>
            <a:ext cx="3474720" cy="36576"/>
          </a:xfrm>
          <a:prstGeom prst="rect">
            <a:avLst/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874519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F0"/>
                </a:solidFill>
              </a:rPr>
              <a:t>title: String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304287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F0"/>
                </a:solidFill>
              </a:rPr>
              <a:t>archived: boolean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734056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F0"/>
                </a:solidFill>
              </a:rPr>
              <a:t>favorite: boolean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163824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F0"/>
                </a:solidFill>
              </a:rPr>
              <a:t>recurringType: String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593591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F0"/>
                </a:solidFill>
              </a:rPr>
              <a:t>recurringValue: String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023359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F0"/>
                </a:solidFill>
              </a:rPr>
              <a:t>lastRestoredDate: String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453127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F0"/>
                </a:solidFill>
              </a:rPr>
              <a:t>sections: List&lt;ListSection&gt;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06240" y="1325880"/>
            <a:ext cx="3474720" cy="2103120"/>
          </a:xfrm>
          <a:prstGeom prst="rect">
            <a:avLst/>
          </a:prstGeom>
          <a:solidFill>
            <a:srgbClr val="2A2A3D"/>
          </a:solidFill>
          <a:ln w="6350">
            <a:solidFill>
              <a:srgbClr val="3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43400" y="141732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EE7B7"/>
                </a:solidFill>
              </a:rPr>
              <a:t>ListSection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06240" y="1783080"/>
            <a:ext cx="3474720" cy="36576"/>
          </a:xfrm>
          <a:prstGeom prst="rect">
            <a:avLst/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43400" y="1874519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F0"/>
                </a:solidFill>
              </a:rPr>
              <a:t>title: String ("" = default)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2304287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F0"/>
                </a:solidFill>
              </a:rPr>
              <a:t>items: List&lt;ShoppingItem&gt;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0" y="3657600"/>
            <a:ext cx="3474720" cy="2560320"/>
          </a:xfrm>
          <a:prstGeom prst="rect">
            <a:avLst/>
          </a:prstGeom>
          <a:solidFill>
            <a:srgbClr val="2A2A3D"/>
          </a:solidFill>
          <a:ln w="6350">
            <a:solidFill>
              <a:srgbClr val="3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343400" y="3749039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BBF24"/>
                </a:solidFill>
              </a:rPr>
              <a:t>ShoppingItem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6240" y="4114800"/>
            <a:ext cx="3474720" cy="36576"/>
          </a:xfrm>
          <a:prstGeom prst="rect">
            <a:avLst/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43400" y="420624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E8F0"/>
                </a:solidFill>
              </a:rPr>
              <a:t>name: String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4526279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E8F0"/>
                </a:solidFill>
              </a:rPr>
              <a:t>checked: boolean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484632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E8F0"/>
                </a:solidFill>
              </a:rPr>
              <a:t>reminderTime: long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3400" y="5166359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E8F0"/>
                </a:solidFill>
              </a:rPr>
              <a:t>recurringType: String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548640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E8F0"/>
                </a:solidFill>
              </a:rPr>
              <a:t>recurringValue: String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43400" y="580644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E8F0"/>
                </a:solidFill>
              </a:rPr>
              <a:t>lastRestoredDate: String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55279" y="1325880"/>
            <a:ext cx="3840480" cy="1005840"/>
          </a:xfrm>
          <a:prstGeom prst="rect">
            <a:avLst/>
          </a:prstGeom>
          <a:solidFill>
            <a:srgbClr val="2E2E42"/>
          </a:solidFill>
          <a:ln w="6350">
            <a:solidFill>
              <a:srgbClr val="3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092440" y="14173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4B5FD"/>
                </a:solidFill>
              </a:rPr>
              <a:t>ListAdapter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92440" y="173736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F0"/>
                </a:solidFill>
              </a:rPr>
              <a:t>Uses ShoppingList · visibleLists[]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55279" y="2514600"/>
            <a:ext cx="3840480" cy="1005840"/>
          </a:xfrm>
          <a:prstGeom prst="rect">
            <a:avLst/>
          </a:prstGeom>
          <a:solidFill>
            <a:srgbClr val="2E2E42"/>
          </a:solidFill>
          <a:ln w="6350">
            <a:solidFill>
              <a:srgbClr val="3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092440" y="260604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4B5FD"/>
                </a:solidFill>
              </a:rPr>
              <a:t>ItemAdapter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92440" y="292608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F0"/>
                </a:solidFill>
              </a:rPr>
              <a:t>Uses ListSection + ShoppingItem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955279" y="3703320"/>
            <a:ext cx="3840480" cy="1005840"/>
          </a:xfrm>
          <a:prstGeom prst="rect">
            <a:avLst/>
          </a:prstGeom>
          <a:solidFill>
            <a:srgbClr val="2E2E42"/>
          </a:solidFill>
          <a:ln w="6350">
            <a:solidFill>
              <a:srgbClr val="3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092440" y="379476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4B5FD"/>
                </a:solidFill>
              </a:rPr>
              <a:t>ArchivedListAdapter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92440" y="411480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F0"/>
                </a:solidFill>
              </a:rPr>
              <a:t>Filtered view of archived lists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59436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999AA"/>
                </a:solidFill>
              </a:rPr>
              <a:t>Hierarchy: ShoppingList → List&lt;ListSection&gt; → List&lt;ShoppingItem&gt;  ·  Persisted via Gson + SharedPreferences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164592"/>
            <a:ext cx="2011680" cy="29260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82879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1E2E"/>
                </a:solidFill>
              </a:rPr>
              <a:t>APP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16459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Application Logic Flowchart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74552" cy="18288"/>
          </a:xfrm>
          <a:prstGeom prst="rect">
            <a:avLst/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14400" y="1325880"/>
            <a:ext cx="6858000" cy="475488"/>
          </a:xfrm>
          <a:prstGeom prst="rect">
            <a:avLst/>
          </a:prstGeom>
          <a:solidFill>
            <a:srgbClr val="A78BFA"/>
          </a:solidFill>
          <a:ln w="6350">
            <a:solidFill>
              <a:srgbClr val="3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1408176"/>
            <a:ext cx="658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1E2E"/>
                </a:solidFill>
              </a:rPr>
              <a:t>App Launched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1801368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78BFA"/>
                </a:solidFill>
              </a:rPr>
              <a:t>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938528"/>
            <a:ext cx="6858000" cy="475488"/>
          </a:xfrm>
          <a:prstGeom prst="rect">
            <a:avLst/>
          </a:prstGeom>
          <a:solidFill>
            <a:srgbClr val="2A2A3D"/>
          </a:solidFill>
          <a:ln w="6350">
            <a:solidFill>
              <a:srgbClr val="3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2020824"/>
            <a:ext cx="658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F0"/>
                </a:solidFill>
              </a:rPr>
              <a:t>applyTheme() — load saved theme preference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414016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78BFA"/>
                </a:solidFill>
              </a:rPr>
              <a:t>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551176"/>
            <a:ext cx="6858000" cy="475488"/>
          </a:xfrm>
          <a:prstGeom prst="rect">
            <a:avLst/>
          </a:prstGeom>
          <a:solidFill>
            <a:srgbClr val="2A2A3D"/>
          </a:solidFill>
          <a:ln w="6350">
            <a:solidFill>
              <a:srgbClr val="3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51560" y="2633472"/>
            <a:ext cx="658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F0"/>
                </a:solidFill>
              </a:rPr>
              <a:t>loadData() — deserialize from SharedPreferences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026664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78BFA"/>
                </a:solidFill>
              </a:rPr>
              <a:t>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3163824"/>
            <a:ext cx="6858000" cy="475488"/>
          </a:xfrm>
          <a:prstGeom prst="rect">
            <a:avLst/>
          </a:prstGeom>
          <a:solidFill>
            <a:srgbClr val="2A2A3D"/>
          </a:solidFill>
          <a:ln w="6350">
            <a:solidFill>
              <a:srgbClr val="3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51560" y="3246120"/>
            <a:ext cx="658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F0"/>
                </a:solidFill>
              </a:rPr>
              <a:t>checkRecurringLists() — restore due lists &amp; items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3639312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78BFA"/>
                </a:solidFill>
              </a:rPr>
              <a:t>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3776472"/>
            <a:ext cx="6858000" cy="475488"/>
          </a:xfrm>
          <a:prstGeom prst="rect">
            <a:avLst/>
          </a:prstGeom>
          <a:solidFill>
            <a:srgbClr val="2A2A3D"/>
          </a:solidFill>
          <a:ln w="6350">
            <a:solidFill>
              <a:srgbClr val="3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51560" y="3858768"/>
            <a:ext cx="658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F0"/>
                </a:solidFill>
              </a:rPr>
              <a:t>refreshVisibleLists() — filter favorites first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4251960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78BFA"/>
                </a:solidFill>
              </a:rPr>
              <a:t>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4389120"/>
            <a:ext cx="6858000" cy="475488"/>
          </a:xfrm>
          <a:prstGeom prst="rect">
            <a:avLst/>
          </a:prstGeom>
          <a:solidFill>
            <a:srgbClr val="2A2A3D"/>
          </a:solidFill>
          <a:ln w="6350">
            <a:solidFill>
              <a:srgbClr val="3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51560" y="4471416"/>
            <a:ext cx="658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F0"/>
                </a:solidFill>
              </a:rPr>
              <a:t>Seed defaults if shoppingLists is empty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4864608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78BFA"/>
                </a:solidFill>
              </a:rPr>
              <a:t>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5001768"/>
            <a:ext cx="6858000" cy="475488"/>
          </a:xfrm>
          <a:prstGeom prst="rect">
            <a:avLst/>
          </a:prstGeom>
          <a:solidFill>
            <a:srgbClr val="A78BFA"/>
          </a:solidFill>
          <a:ln w="6350">
            <a:solidFill>
              <a:srgbClr val="3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51560" y="5084064"/>
            <a:ext cx="658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1E2E"/>
                </a:solidFill>
              </a:rPr>
              <a:t>Display 2-column card grid (GridLayoutManager)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5477256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78BFA"/>
                </a:solidFill>
              </a:rPr>
              <a:t>▼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" y="5614416"/>
            <a:ext cx="6858000" cy="475488"/>
          </a:xfrm>
          <a:prstGeom prst="rect">
            <a:avLst/>
          </a:prstGeom>
          <a:solidFill>
            <a:srgbClr val="2E2E42"/>
          </a:solidFill>
          <a:ln w="6350">
            <a:solidFill>
              <a:srgbClr val="3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51560" y="5696712"/>
            <a:ext cx="658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F0"/>
                </a:solidFill>
              </a:rPr>
              <a:t>User Interaction Loop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38160" y="1325880"/>
            <a:ext cx="3657600" cy="5029200"/>
          </a:xfrm>
          <a:prstGeom prst="rect">
            <a:avLst/>
          </a:prstGeom>
          <a:solidFill>
            <a:srgbClr val="2E2E42"/>
          </a:solidFill>
          <a:ln w="6350">
            <a:solidFill>
              <a:srgbClr val="3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75320" y="141732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</a:rPr>
              <a:t>User Actions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1847088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</a:rPr>
              <a:t>▸  Tap card → ListDetailActivity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20" y="2505456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</a:rPr>
              <a:t>▸  Long press card → Options menu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3163824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</a:rPr>
              <a:t>▸  FAB → Create new list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20" y="3822191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</a:rPr>
              <a:t>▸  Star → Toggle favorite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20" y="448056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</a:rPr>
              <a:t>▸  Drag handle → Reorder cards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5320" y="5138927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</a:rPr>
              <a:t>▸  Overflow menu → Archive / Switch Theme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164592"/>
            <a:ext cx="2011680" cy="29260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82879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1E2E"/>
                </a:solidFill>
              </a:rPr>
              <a:t>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16459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Development Schedule &amp; Milestones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74552" cy="18288"/>
          </a:xfrm>
          <a:prstGeom prst="rect">
            <a:avLst/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502920"/>
          </a:xfrm>
          <a:prstGeom prst="rect">
            <a:avLst/>
          </a:prstGeom>
          <a:solidFill>
            <a:srgbClr val="2A2A3D"/>
          </a:solidFill>
          <a:ln w="6350">
            <a:solidFill>
              <a:srgbClr val="3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EE7B7"/>
                </a:solidFill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4173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78BFA"/>
                </a:solidFill>
              </a:rPr>
              <a:t>Weeks 1–2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141732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F0"/>
                </a:solidFill>
              </a:rPr>
              <a:t>Project setup, UI design, repository configuration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956815"/>
            <a:ext cx="11430000" cy="502920"/>
          </a:xfrm>
          <a:prstGeom prst="rect">
            <a:avLst/>
          </a:prstGeom>
          <a:solidFill>
            <a:srgbClr val="2A2A3D"/>
          </a:solidFill>
          <a:ln w="6350">
            <a:solidFill>
              <a:srgbClr val="3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2048255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EE7B7"/>
                </a:solidFill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048255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78BFA"/>
                </a:solidFill>
              </a:rPr>
              <a:t>Weeks 3–4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048255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F0"/>
                </a:solidFill>
              </a:rPr>
              <a:t>List overview screen, navigation between activities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587752"/>
            <a:ext cx="11430000" cy="502920"/>
          </a:xfrm>
          <a:prstGeom prst="rect">
            <a:avLst/>
          </a:prstGeom>
          <a:solidFill>
            <a:srgbClr val="2A2A3D"/>
          </a:solidFill>
          <a:ln w="6350">
            <a:solidFill>
              <a:srgbClr val="3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267919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EE7B7"/>
                </a:solidFill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67919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78BFA"/>
                </a:solidFill>
              </a:rPr>
              <a:t>Weeks 5–6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2679192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F0"/>
                </a:solidFill>
              </a:rPr>
              <a:t>Dynamic item creation, RecyclerView adapter patterns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218687"/>
            <a:ext cx="11430000" cy="502920"/>
          </a:xfrm>
          <a:prstGeom prst="rect">
            <a:avLst/>
          </a:prstGeom>
          <a:solidFill>
            <a:srgbClr val="2A2A3D"/>
          </a:solidFill>
          <a:ln w="6350">
            <a:solidFill>
              <a:srgbClr val="3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920" y="3310127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EE7B7"/>
                </a:solidFill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310127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78BFA"/>
                </a:solidFill>
              </a:rPr>
              <a:t>Weeks 7–9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80" y="3310127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F0"/>
                </a:solidFill>
              </a:rPr>
              <a:t>SharedPreferences persistence, Gson serialization, archive/restore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849624"/>
            <a:ext cx="11430000" cy="502920"/>
          </a:xfrm>
          <a:prstGeom prst="rect">
            <a:avLst/>
          </a:prstGeom>
          <a:solidFill>
            <a:srgbClr val="2A2A3D"/>
          </a:solidFill>
          <a:ln w="6350">
            <a:solidFill>
              <a:srgbClr val="3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" y="3941063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EE7B7"/>
                </a:solidFill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3941063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78BFA"/>
                </a:solidFill>
              </a:rPr>
              <a:t>Weeks 10–12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68880" y="3941063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F0"/>
                </a:solidFill>
              </a:rPr>
              <a:t>Recurring lists (weekly/monthly/yearly), favorites, drag reorder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480559"/>
            <a:ext cx="11430000" cy="502920"/>
          </a:xfrm>
          <a:prstGeom prst="rect">
            <a:avLst/>
          </a:prstGeom>
          <a:solidFill>
            <a:srgbClr val="2A2A3D"/>
          </a:solidFill>
          <a:ln w="6350">
            <a:solidFill>
              <a:srgbClr val="3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2920" y="4571999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EE7B7"/>
                </a:solidFill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4571999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78BFA"/>
                </a:solidFill>
              </a:rPr>
              <a:t>Weeks 13–14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68880" y="4571999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F0"/>
                </a:solidFill>
              </a:rPr>
              <a:t>Sections, item reminders, item recurrence, light/dark mode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111496"/>
            <a:ext cx="11430000" cy="502920"/>
          </a:xfrm>
          <a:prstGeom prst="rect">
            <a:avLst/>
          </a:prstGeom>
          <a:solidFill>
            <a:srgbClr val="2E2E42"/>
          </a:solidFill>
          <a:ln w="6350">
            <a:solidFill>
              <a:srgbClr val="3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02920" y="5202936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BBF24"/>
                </a:solidFill>
              </a:rPr>
              <a:t>⟳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520293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78BFA"/>
                </a:solidFill>
              </a:rPr>
              <a:t>Weeks 15–16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68880" y="5202936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F0"/>
                </a:solidFill>
              </a:rPr>
              <a:t>Final polish, diagrams, documentation, presentation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164592"/>
            <a:ext cx="2011680" cy="29260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82879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1E2E"/>
                </a:solidFill>
              </a:rPr>
              <a:t>DESIGN EVOLUTION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16459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Stage 1 &amp; 2 — Sketch &amp; Wireframe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74552" cy="18288"/>
          </a:xfrm>
          <a:prstGeom prst="rect">
            <a:avLst/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5394960" cy="4114800"/>
          </a:xfrm>
          <a:prstGeom prst="rect">
            <a:avLst/>
          </a:prstGeom>
          <a:solidFill>
            <a:srgbClr val="2E2E42"/>
          </a:solidFill>
          <a:ln w="6350">
            <a:solidFill>
              <a:srgbClr val="3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</a:rPr>
              <a:t>Stage 1: Initial Sketch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F0"/>
                </a:solidFill>
              </a:rPr>
              <a:t>The earliest version was conceived as a simple single-screen list manager. Initial sketches answered three core questions: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5603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4B5FD"/>
                </a:solidFill>
              </a:rPr>
              <a:t>▸  How does a user create a new list?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0175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4B5FD"/>
                </a:solidFill>
              </a:rPr>
              <a:t>▸  How does a user see all their lists at once?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747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4B5FD"/>
                </a:solidFill>
              </a:rPr>
              <a:t>▸  How does a user add and check off items?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1325880"/>
            <a:ext cx="5760720" cy="4114800"/>
          </a:xfrm>
          <a:prstGeom prst="rect">
            <a:avLst/>
          </a:prstGeom>
          <a:solidFill>
            <a:srgbClr val="2E2E42"/>
          </a:solidFill>
          <a:ln w="6350">
            <a:solidFill>
              <a:srgbClr val="3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17920" y="141732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</a:rPr>
              <a:t>Stage 2: Wireframe Decisions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874519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</a:rPr>
              <a:t>▸  Three screens identified: Home, List Detail, Archived Lists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441448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</a:rPr>
              <a:t>▸  Grid layout over single column — better use of screen space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3008376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</a:rPr>
              <a:t>▸  FAB bottom-right — follows Material Design conventions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3575303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</a:rPr>
              <a:t>▸  Navigation via Android Intents with back button return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4142231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</a:rPr>
              <a:t>▸  No login screen — offline-first approach decided here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470916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</a:rPr>
              <a:t>▸  RecyclerView chosen for efficient list rendering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164592"/>
            <a:ext cx="2011680" cy="29260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82879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1E2E"/>
                </a:solidFill>
              </a:rPr>
              <a:t>NAVIGATION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16459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User Interface Navigation Diagram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74552" cy="18288"/>
          </a:xfrm>
          <a:prstGeom prst="rect">
            <a:avLst/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3200400" cy="4114800"/>
          </a:xfrm>
          <a:prstGeom prst="rect">
            <a:avLst/>
          </a:prstGeom>
          <a:solidFill>
            <a:srgbClr val="2E2E42"/>
          </a:solidFill>
          <a:ln w="6350">
            <a:solidFill>
              <a:srgbClr val="3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48132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</a:rPr>
              <a:t>Main Screen
(List Overview)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965960"/>
            <a:ext cx="3200400" cy="27432"/>
          </a:xfrm>
          <a:prstGeom prst="rect">
            <a:avLst/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205740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F0"/>
                </a:solidFill>
              </a:rPr>
              <a:t>Grid of list cards
FAB → create list
Long press → options
Overflow → Archive / Theme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1371600"/>
            <a:ext cx="3200400" cy="4114800"/>
          </a:xfrm>
          <a:prstGeom prst="rect">
            <a:avLst/>
          </a:prstGeom>
          <a:solidFill>
            <a:srgbClr val="2E2E42"/>
          </a:solidFill>
          <a:ln w="6350">
            <a:solidFill>
              <a:srgbClr val="3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51960" y="148132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</a:rPr>
              <a:t>List Detail Screen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1965960"/>
            <a:ext cx="3200400" cy="27432"/>
          </a:xfrm>
          <a:prstGeom prst="rect">
            <a:avLst/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51960" y="205740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F0"/>
                </a:solidFill>
              </a:rPr>
              <a:t>Sections + items
FAB → add section
Swipe → delete item
Long press → edit / recur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0" y="1371600"/>
            <a:ext cx="4023360" cy="4114800"/>
          </a:xfrm>
          <a:prstGeom prst="rect">
            <a:avLst/>
          </a:prstGeom>
          <a:solidFill>
            <a:srgbClr val="2E2E42"/>
          </a:solidFill>
          <a:ln w="6350">
            <a:solidFill>
              <a:srgbClr val="3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909560" y="1481328"/>
            <a:ext cx="3749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</a:rPr>
              <a:t>Archived Lists Screen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0" y="1965960"/>
            <a:ext cx="4023360" cy="27432"/>
          </a:xfrm>
          <a:prstGeom prst="rect">
            <a:avLst/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09560" y="2057400"/>
            <a:ext cx="37490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F0"/>
                </a:solidFill>
              </a:rPr>
              <a:t>Tap → view (read-only)
Long press → restore
Long press → delete
Undo via Snackbar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310896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AA"/>
                </a:solidFill>
              </a:rPr>
              <a:t>Tap card  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310896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AA"/>
                </a:solidFill>
              </a:rPr>
              <a:t>➜  Long press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3840480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AA"/>
                </a:solidFill>
              </a:rPr>
              <a:t>◀  Back button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3840480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AA"/>
                </a:solidFill>
              </a:rPr>
              <a:t>◀  Back button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164592"/>
            <a:ext cx="2011680" cy="29260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82879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1E2E"/>
                </a:solidFill>
              </a:rPr>
              <a:t>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16459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Stage 3 — Early Prototype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74552" cy="18288"/>
          </a:xfrm>
          <a:prstGeom prst="rect">
            <a:avLst/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6858000" cy="4114800"/>
          </a:xfrm>
          <a:prstGeom prst="rect">
            <a:avLst/>
          </a:prstGeom>
          <a:solidFill>
            <a:srgbClr val="2E2E42"/>
          </a:solidFill>
          <a:ln w="6350">
            <a:solidFill>
              <a:srgbClr val="3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</a:rPr>
              <a:t>First Working Prototype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F0"/>
                </a:solidFill>
              </a:rPr>
              <a:t>The first working prototype established the core interaction loop: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86000"/>
            <a:ext cx="6492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4B5FD"/>
                </a:solidFill>
              </a:rPr>
              <a:t>1.  User sees grid of list cards on home screen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61488"/>
            <a:ext cx="6492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4B5FD"/>
                </a:solidFill>
              </a:rPr>
              <a:t>2.  User taps a card to open 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36976"/>
            <a:ext cx="6492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4B5FD"/>
                </a:solidFill>
              </a:rPr>
              <a:t>3.  User adds and checks off items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12464"/>
            <a:ext cx="6492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4B5FD"/>
                </a:solidFill>
              </a:rPr>
              <a:t>4.  User navigates back via system button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251960"/>
            <a:ext cx="6492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999AA"/>
                </a:solidFill>
              </a:rPr>
              <a:t>At this stage, data was NOT yet persisted — lists reset every time the app was closed. The focus was purely on validating navigation flow and RecyclerView behavior.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79" y="1325880"/>
            <a:ext cx="4297680" cy="4114800"/>
          </a:xfrm>
          <a:prstGeom prst="rect">
            <a:avLst/>
          </a:prstGeom>
          <a:solidFill>
            <a:srgbClr val="2E2E42"/>
          </a:solidFill>
          <a:ln w="6350">
            <a:solidFill>
              <a:srgbClr val="3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80960" y="14173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BBF24"/>
                </a:solidFill>
              </a:rPr>
              <a:t>Limitations at This Stage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192024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F0"/>
                </a:solidFill>
              </a:rPr>
              <a:t>▸  No data persistence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2450592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F0"/>
                </a:solidFill>
              </a:rPr>
              <a:t>▸  No archive functionality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2980944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F0"/>
                </a:solidFill>
              </a:rPr>
              <a:t>▸  No item editing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3511296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F0"/>
                </a:solidFill>
              </a:rPr>
              <a:t>▸  Static in-memory list only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4041648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F0"/>
                </a:solidFill>
              </a:rPr>
              <a:t>▸  No sections or favorites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457200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F0"/>
                </a:solidFill>
              </a:rPr>
              <a:t>▸  No recurring lists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164592"/>
            <a:ext cx="2011680" cy="29260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82879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1E2E"/>
                </a:solidFill>
              </a:rPr>
              <a:t>MID-DEVELOPMENT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16459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Stage 4 — Mid-Development Build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74552" cy="18288"/>
          </a:xfrm>
          <a:prstGeom prst="rect">
            <a:avLst/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6858000" cy="4114800"/>
          </a:xfrm>
          <a:prstGeom prst="rect">
            <a:avLst/>
          </a:prstGeom>
          <a:solidFill>
            <a:srgbClr val="2E2E42"/>
          </a:solidFill>
          <a:ln w="6350">
            <a:solidFill>
              <a:srgbClr val="3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</a:rPr>
              <a:t>Features Added at Mid-Point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74519"/>
            <a:ext cx="6492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F0"/>
                </a:solidFill>
              </a:rPr>
              <a:t>▸  Persistent data via SharedPreferences + Gson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86584"/>
            <a:ext cx="6492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F0"/>
                </a:solidFill>
              </a:rPr>
              <a:t>▸  Archive and restore functionality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98648"/>
            <a:ext cx="6492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F0"/>
                </a:solidFill>
              </a:rPr>
              <a:t>▸  Read-only mode for archived lists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10712"/>
            <a:ext cx="6492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F0"/>
                </a:solidFill>
              </a:rPr>
              <a:t>▸  Visual strikethrough for completed items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922776"/>
            <a:ext cx="6492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F0"/>
                </a:solidFill>
              </a:rPr>
              <a:t>▸  Undo for deletions via Snackbar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434840"/>
            <a:ext cx="6492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F0"/>
                </a:solidFill>
              </a:rPr>
              <a:t>▸  Data model centralized around ShoppingList object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946904"/>
            <a:ext cx="6492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F0"/>
                </a:solidFill>
              </a:rPr>
              <a:t>▸  ListAdapter and ItemAdapter pattern established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79" y="1325880"/>
            <a:ext cx="4297680" cy="4114800"/>
          </a:xfrm>
          <a:prstGeom prst="rect">
            <a:avLst/>
          </a:prstGeom>
          <a:solidFill>
            <a:srgbClr val="2E2E42"/>
          </a:solidFill>
          <a:ln w="6350">
            <a:solidFill>
              <a:srgbClr val="3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680960" y="14173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EE7B7"/>
                </a:solidFill>
              </a:rPr>
              <a:t>Architecture Insight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1874519"/>
            <a:ext cx="3931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F0"/>
                </a:solidFill>
              </a:rPr>
              <a:t>The ShoppingList object — containing a title and a list of items — became the central data structure accessed by both ListAdapter and ItemAdapter to render content in the UI.
This established the pattern that all subsequent features would build on: operate on the object, not the index.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164592"/>
            <a:ext cx="2011680" cy="29260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82879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1E2E"/>
                </a:solidFill>
              </a:rPr>
              <a:t>CURRENT 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16459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What I Actually Built — Spring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74552" cy="18288"/>
          </a:xfrm>
          <a:prstGeom prst="rect">
            <a:avLst/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5486400" cy="4389120"/>
          </a:xfrm>
          <a:prstGeom prst="rect">
            <a:avLst/>
          </a:prstGeom>
          <a:solidFill>
            <a:srgbClr val="2E2E42"/>
          </a:solidFill>
          <a:ln w="6350">
            <a:solidFill>
              <a:srgbClr val="3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</a:rPr>
              <a:t>Core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74519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</a:rPr>
              <a:t>✓  Create, delete, archive, and restore lists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86584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</a:rPr>
              <a:t>✓  Add, check, edit, swipe-to-delete items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9864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</a:rPr>
              <a:t>✓  Completed items divider with strikethrough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10712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</a:rPr>
              <a:t>✓  Archived lists screen with read-only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922776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</a:rPr>
              <a:t>✓  Recurring lists: weekly, monthly, yearly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43484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</a:rPr>
              <a:t>✓  Item-level recurrence (per-item repeat)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946904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</a:rPr>
              <a:t>✓  Recurrence / Repeat labels on list cards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325880"/>
            <a:ext cx="5669280" cy="4389120"/>
          </a:xfrm>
          <a:prstGeom prst="rect">
            <a:avLst/>
          </a:prstGeom>
          <a:solidFill>
            <a:srgbClr val="2E2E42"/>
          </a:solidFill>
          <a:ln w="6350">
            <a:solidFill>
              <a:srgbClr val="3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09360" y="14173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</a:rPr>
              <a:t>Advanced Features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1874519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</a:rPr>
              <a:t>✓  Undo for all deletions (Snackbar)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386584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</a:rPr>
              <a:t>✓  Data persistence via SharedPreferences + Gson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898648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</a:rPr>
              <a:t>✓  Item reminders with AlarmManager + notifications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3410712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</a:rPr>
              <a:t>✓  Favorites with gold star + priority ordering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922776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</a:rPr>
              <a:t>✓  Drag to reorder lists and items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44348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</a:rPr>
              <a:t>✓  Sections within lists + auto 'Other' grouping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4946904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</a:rPr>
              <a:t>✓  Light / Dark mode toggle (DayNight theme)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164592"/>
            <a:ext cx="2011680" cy="29260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82879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1E2E"/>
                </a:solidFill>
              </a:rPr>
              <a:t>TOUGHEST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16459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The Toughest Bug — Two Lists, One RecyclerView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74552" cy="18288"/>
          </a:xfrm>
          <a:prstGeom prst="rect">
            <a:avLst/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1005840"/>
          </a:xfrm>
          <a:prstGeom prst="rect">
            <a:avLst/>
          </a:prstGeom>
          <a:solidFill>
            <a:srgbClr val="2E2E42"/>
          </a:solidFill>
          <a:ln w="6350">
            <a:solidFill>
              <a:srgbClr val="3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</a:rPr>
              <a:t>The Problem: shoppingLists (master) vs visibleLists (filtered) — indices fell out of sync after archive operations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514600"/>
            <a:ext cx="5394960" cy="2011680"/>
          </a:xfrm>
          <a:prstGeom prst="rect">
            <a:avLst/>
          </a:prstGeom>
          <a:solidFill>
            <a:srgbClr val="2A2A3D"/>
          </a:solidFill>
          <a:ln w="6350">
            <a:solidFill>
              <a:srgbClr val="3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260604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060"/>
                </a:solidFill>
              </a:rPr>
              <a:t>❌  Wrong Approach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01752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F0"/>
                </a:solidFill>
              </a:rPr>
              <a:t>shoppingLists.remove(position);
// position is a visibleLists index!
// → IndexOutOfBoundsException or wrong list deleted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2514600"/>
            <a:ext cx="5669280" cy="2011680"/>
          </a:xfrm>
          <a:prstGeom prst="rect">
            <a:avLst/>
          </a:prstGeom>
          <a:solidFill>
            <a:srgbClr val="2A2A3D"/>
          </a:solidFill>
          <a:ln w="6350">
            <a:solidFill>
              <a:srgbClr val="3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09360" y="260604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EE7B7"/>
                </a:solidFill>
              </a:rPr>
              <a:t>✅  Correct Approach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3017520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F0"/>
                </a:solidFill>
              </a:rPr>
              <a:t>ShoppingList selected = visibleLists.get(position);
selected.setArchived(true);
refreshVisibleLists(); // rebuild from shoppingLists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709160"/>
            <a:ext cx="11430000" cy="914400"/>
          </a:xfrm>
          <a:prstGeom prst="rect">
            <a:avLst/>
          </a:prstGeom>
          <a:solidFill>
            <a:srgbClr val="2E2E42"/>
          </a:solidFill>
          <a:ln w="6350">
            <a:solidFill>
              <a:srgbClr val="3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480060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4B5FD"/>
                </a:solidFill>
              </a:rPr>
              <a:t>The Lesson: Never use a position index across two different lists. Always retrieve the object first, then operate on the object — not the index. This pattern now applies consistently across every user interaction.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164592"/>
            <a:ext cx="2011680" cy="29260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82879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1E2E"/>
                </a:solidFill>
              </a:rPr>
              <a:t>DATA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16459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Data Sources and Persistence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74552" cy="18288"/>
          </a:xfrm>
          <a:prstGeom prst="rect">
            <a:avLst/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11430000" cy="1051560"/>
          </a:xfrm>
          <a:prstGeom prst="rect">
            <a:avLst/>
          </a:prstGeom>
          <a:solidFill>
            <a:srgbClr val="2E2E42"/>
          </a:solidFill>
          <a:ln w="6350">
            <a:solidFill>
              <a:srgbClr val="3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164592" cy="105156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46304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</a:rPr>
              <a:t>User-Generated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74519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F0"/>
                </a:solidFill>
              </a:rPr>
              <a:t>All list titles, section names, and item text entered through the UI at runtime. No seed data after first launch.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606040"/>
            <a:ext cx="11430000" cy="1051560"/>
          </a:xfrm>
          <a:prstGeom prst="rect">
            <a:avLst/>
          </a:prstGeom>
          <a:solidFill>
            <a:srgbClr val="2E2E42"/>
          </a:solidFill>
          <a:ln w="6350">
            <a:solidFill>
              <a:srgbClr val="3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2606040"/>
            <a:ext cx="164592" cy="1051560"/>
          </a:xfrm>
          <a:prstGeom prst="rect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269748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EE7B7"/>
                </a:solidFill>
              </a:rPr>
              <a:t>SharedPreferences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10896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F0"/>
                </a:solidFill>
              </a:rPr>
              <a:t>Key-value store using PREFS_NAME = 'shopping_prefs'. Full list serialized under LIST_KEY = 'shopping_lists'.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840480"/>
            <a:ext cx="11430000" cy="1051560"/>
          </a:xfrm>
          <a:prstGeom prst="rect">
            <a:avLst/>
          </a:prstGeom>
          <a:solidFill>
            <a:srgbClr val="2E2E42"/>
          </a:solidFill>
          <a:ln w="6350">
            <a:solidFill>
              <a:srgbClr val="3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65760" y="3840480"/>
            <a:ext cx="164592" cy="105156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393192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BBF24"/>
                </a:solidFill>
              </a:rPr>
              <a:t>Gson Serialization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3434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F0"/>
                </a:solidFill>
              </a:rPr>
              <a:t>Entire List&lt;ShoppingList&gt; serialized to JSON on every save. Deserialized on app launch with defensive null guards.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5074920"/>
            <a:ext cx="11430000" cy="1051560"/>
          </a:xfrm>
          <a:prstGeom prst="rect">
            <a:avLst/>
          </a:prstGeom>
          <a:solidFill>
            <a:srgbClr val="2E2E42"/>
          </a:solidFill>
          <a:ln w="6350">
            <a:solidFill>
              <a:srgbClr val="3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65760" y="5074920"/>
            <a:ext cx="164592" cy="1051560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516636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4B5FD"/>
                </a:solidFill>
              </a:rPr>
              <a:t>AlarmManager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5778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F0"/>
                </a:solidFill>
              </a:rPr>
              <a:t>Item reminder times stored as epoch milliseconds in ShoppingItem. AlarmManager schedules ReminderReceiver broadcasts.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2636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999AA"/>
                </a:solidFill>
              </a:rPr>
              <a:t>No external APIs or third-party data sources used. Fully offline-first.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164592"/>
            <a:ext cx="2011680" cy="29260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82879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1E2E"/>
                </a:solidFill>
              </a:rPr>
              <a:t>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16459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Use Cases — Current Application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74552" cy="18288"/>
          </a:xfrm>
          <a:prstGeom prst="rect">
            <a:avLst/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5669280" cy="1417320"/>
          </a:xfrm>
          <a:prstGeom prst="rect">
            <a:avLst/>
          </a:prstGeom>
          <a:solidFill>
            <a:srgbClr val="2E2E42"/>
          </a:solidFill>
          <a:ln w="6350">
            <a:solidFill>
              <a:srgbClr val="3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75488" y="14630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1E2E"/>
                </a:solidFill>
              </a:rPr>
              <a:t>UC1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463040"/>
            <a:ext cx="457200" cy="32004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5488" y="14630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E1E2E"/>
                </a:solidFill>
              </a:rPr>
              <a:t>UC1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48132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</a:rPr>
              <a:t>Create &amp; Manage Lists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901952"/>
            <a:ext cx="5394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F0"/>
                </a:solidFill>
              </a:rPr>
              <a:t>User creates lists, renames them, marks favorites, reorders via drag handle, and archives when done.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371600"/>
            <a:ext cx="5669280" cy="1417320"/>
          </a:xfrm>
          <a:prstGeom prst="rect">
            <a:avLst/>
          </a:prstGeom>
          <a:solidFill>
            <a:srgbClr val="2E2E42"/>
          </a:solidFill>
          <a:ln w="6350">
            <a:solidFill>
              <a:srgbClr val="3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19088" y="14630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1E2E"/>
                </a:solidFill>
              </a:rPr>
              <a:t>UC2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19088" y="1463040"/>
            <a:ext cx="457200" cy="32004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19088" y="14630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E1E2E"/>
                </a:solidFill>
              </a:rPr>
              <a:t>UC2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148132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</a:rPr>
              <a:t>Organize with Sections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1901952"/>
            <a:ext cx="5394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F0"/>
                </a:solidFill>
              </a:rPr>
              <a:t>User adds named sections to a list. Pre-existing items auto-group into 'Other' at the bottom.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926080"/>
            <a:ext cx="5669280" cy="1417320"/>
          </a:xfrm>
          <a:prstGeom prst="rect">
            <a:avLst/>
          </a:prstGeom>
          <a:solidFill>
            <a:srgbClr val="2E2E42"/>
          </a:solidFill>
          <a:ln w="6350">
            <a:solidFill>
              <a:srgbClr val="3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75488" y="30175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1E2E"/>
                </a:solidFill>
              </a:rPr>
              <a:t>UC3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5488" y="3017520"/>
            <a:ext cx="457200" cy="32004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5488" y="30175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E1E2E"/>
                </a:solidFill>
              </a:rPr>
              <a:t>UC3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303580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</a:rPr>
              <a:t>Track Items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456432"/>
            <a:ext cx="5394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F0"/>
                </a:solidFill>
              </a:rPr>
              <a:t>User adds items, checks them off (strikethrough), edits via long-press, swipes to delete, and undoes accidentally deleted items.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2926080"/>
            <a:ext cx="5669280" cy="1417320"/>
          </a:xfrm>
          <a:prstGeom prst="rect">
            <a:avLst/>
          </a:prstGeom>
          <a:solidFill>
            <a:srgbClr val="2E2E42"/>
          </a:solidFill>
          <a:ln w="6350">
            <a:solidFill>
              <a:srgbClr val="3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19088" y="30175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1E2E"/>
                </a:solidFill>
              </a:rPr>
              <a:t>UC4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19088" y="3017520"/>
            <a:ext cx="457200" cy="32004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19088" y="30175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E1E2E"/>
                </a:solidFill>
              </a:rPr>
              <a:t>UC4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95160" y="303580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</a:rPr>
              <a:t>Set Reminders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3456432"/>
            <a:ext cx="5394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F0"/>
                </a:solidFill>
              </a:rPr>
              <a:t>User taps the bell icon on any item to schedule a notification at a chosen date and time via AlarmManager.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480560"/>
            <a:ext cx="5669280" cy="1417320"/>
          </a:xfrm>
          <a:prstGeom prst="rect">
            <a:avLst/>
          </a:prstGeom>
          <a:solidFill>
            <a:srgbClr val="2E2E42"/>
          </a:solidFill>
          <a:ln w="6350">
            <a:solidFill>
              <a:srgbClr val="3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75488" y="45720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1E2E"/>
                </a:solidFill>
              </a:rPr>
              <a:t>UC5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5488" y="4572000"/>
            <a:ext cx="457200" cy="32004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75488" y="45720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E1E2E"/>
                </a:solidFill>
              </a:rPr>
              <a:t>UC5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" y="459028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</a:rPr>
              <a:t>Recurring Lists &amp; Items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5010912"/>
            <a:ext cx="5394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F0"/>
                </a:solidFill>
              </a:rPr>
              <a:t>User sets a list or individual item to repeat weekly, monthly, or yearly. App auto-restores on the due date.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9360" y="4480560"/>
            <a:ext cx="5669280" cy="1417320"/>
          </a:xfrm>
          <a:prstGeom prst="rect">
            <a:avLst/>
          </a:prstGeom>
          <a:solidFill>
            <a:srgbClr val="2E2E42"/>
          </a:solidFill>
          <a:ln w="6350">
            <a:solidFill>
              <a:srgbClr val="3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19088" y="45720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1E2E"/>
                </a:solidFill>
              </a:rPr>
              <a:t>UC6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19088" y="4572000"/>
            <a:ext cx="457200" cy="32004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19088" y="45720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E1E2E"/>
                </a:solidFill>
              </a:rPr>
              <a:t>UC6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95160" y="459028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</a:rPr>
              <a:t>Archive &amp; Restore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5010912"/>
            <a:ext cx="5394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F0"/>
                </a:solidFill>
              </a:rPr>
              <a:t>User archives completed lists. Recurring lists auto-restore on schedule. Manual restore available from the archived screen.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164592"/>
            <a:ext cx="2011680" cy="29260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82879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1E2E"/>
                </a:solidFill>
              </a:rPr>
              <a:t>UI / 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16459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UI/UX Design Decisions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74552" cy="18288"/>
          </a:xfrm>
          <a:prstGeom prst="rect">
            <a:avLst/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5669280" cy="1463040"/>
          </a:xfrm>
          <a:prstGeom prst="rect">
            <a:avLst/>
          </a:prstGeom>
          <a:solidFill>
            <a:srgbClr val="2E2E42"/>
          </a:solidFill>
          <a:ln w="6350">
            <a:solidFill>
              <a:srgbClr val="3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109728" cy="146304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46304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</a:rPr>
              <a:t>Violet Accent (#A78BFA)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74519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</a:rPr>
              <a:t>Calm, focused, modern. Violet is associated with creativity without the aggression of red or the coldness of blue. Chosen to feel premium on dark backgrounds.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371600"/>
            <a:ext cx="5669280" cy="1463040"/>
          </a:xfrm>
          <a:prstGeom prst="rect">
            <a:avLst/>
          </a:prstGeom>
          <a:solidFill>
            <a:srgbClr val="2E2E42"/>
          </a:solidFill>
          <a:ln w="6350">
            <a:solidFill>
              <a:srgbClr val="3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09360" y="1371600"/>
            <a:ext cx="109728" cy="146304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37960" y="146304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</a:rPr>
              <a:t>Dark Theme Default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874519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</a:rPr>
              <a:t>Reduces eye strain for users who manage lists at night. Dark backgrounds also make the violet accent pop with natural contrast.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971800"/>
            <a:ext cx="5669280" cy="1463040"/>
          </a:xfrm>
          <a:prstGeom prst="rect">
            <a:avLst/>
          </a:prstGeom>
          <a:solidFill>
            <a:srgbClr val="2E2E42"/>
          </a:solidFill>
          <a:ln w="6350">
            <a:solidFill>
              <a:srgbClr val="3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65760" y="2971800"/>
            <a:ext cx="109728" cy="146304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306324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</a:rPr>
              <a:t>Fixed 180dp Card Size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474720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</a:rPr>
              <a:t>Consistent grid prevents taller cards (with item previews) from stretching neighbors. Uniform layout feels intentional, not chaotic.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2971800"/>
            <a:ext cx="5669280" cy="1463040"/>
          </a:xfrm>
          <a:prstGeom prst="rect">
            <a:avLst/>
          </a:prstGeom>
          <a:solidFill>
            <a:srgbClr val="2E2E42"/>
          </a:solidFill>
          <a:ln w="6350">
            <a:solidFill>
              <a:srgbClr val="3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09360" y="2971800"/>
            <a:ext cx="109728" cy="146304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37960" y="306324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</a:rPr>
              <a:t>Subtle Square Checkboxes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474720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</a:rPr>
              <a:t>Replaced circular bullets with muted rounded-square checkboxes. Content takes priority — the checkbox signals state without dominating the row.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572000"/>
            <a:ext cx="5669280" cy="1463040"/>
          </a:xfrm>
          <a:prstGeom prst="rect">
            <a:avLst/>
          </a:prstGeom>
          <a:solidFill>
            <a:srgbClr val="2E2E42"/>
          </a:solidFill>
          <a:ln w="6350">
            <a:solidFill>
              <a:srgbClr val="3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65760" y="4572000"/>
            <a:ext cx="109728" cy="146304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4360" y="466344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</a:rPr>
              <a:t>'Repeat' over 'Recurrence'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074920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</a:rPr>
              <a:t>User-facing language uses 'Repeat' instead of 'Recurrence'. Everyday users don't think in calendar-app vocabulary.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4572000"/>
            <a:ext cx="5669280" cy="1463040"/>
          </a:xfrm>
          <a:prstGeom prst="rect">
            <a:avLst/>
          </a:prstGeom>
          <a:solidFill>
            <a:srgbClr val="2E2E42"/>
          </a:solidFill>
          <a:ln w="6350">
            <a:solidFill>
              <a:srgbClr val="3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309360" y="4572000"/>
            <a:ext cx="109728" cy="146304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37960" y="466344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</a:rPr>
              <a:t>Drag Handle over Long-Press Drag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5074920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</a:rPr>
              <a:t>Long-press reserved for context menu (edit/repeat/remove). Drag handle makes reordering intentional and avoids gesture conflicts.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164592"/>
            <a:ext cx="2011680" cy="29260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82879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1E2E"/>
                </a:solidFill>
              </a:rPr>
              <a:t>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16459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Hours Spent Learning New Technologies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74552" cy="18288"/>
          </a:xfrm>
          <a:prstGeom prst="rect">
            <a:avLst/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5669280" cy="1463040"/>
          </a:xfrm>
          <a:prstGeom prst="rect">
            <a:avLst/>
          </a:prstGeom>
          <a:solidFill>
            <a:srgbClr val="2E2E42"/>
          </a:solidFill>
          <a:ln w="6350">
            <a:solidFill>
              <a:srgbClr val="3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</a:rPr>
              <a:t>RecyclerView &amp; Adapters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46304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BBF24"/>
                </a:solidFill>
              </a:rPr>
              <a:t>~18 hrs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74519"/>
            <a:ext cx="5394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F0"/>
                </a:solidFill>
              </a:rPr>
              <a:t>Understanding ViewHolder pattern, DiffUtil, ItemTouchHelper for drag/swipe, flat list architecture for sections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371600"/>
            <a:ext cx="5669280" cy="1463040"/>
          </a:xfrm>
          <a:prstGeom prst="rect">
            <a:avLst/>
          </a:prstGeom>
          <a:solidFill>
            <a:srgbClr val="2E2E42"/>
          </a:solidFill>
          <a:ln w="6350">
            <a:solidFill>
              <a:srgbClr val="3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46304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</a:rPr>
              <a:t>SharedPreferences + Gson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146304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BBF24"/>
                </a:solidFill>
              </a:rPr>
              <a:t>~8 hrs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874519"/>
            <a:ext cx="5394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F0"/>
                </a:solidFill>
              </a:rPr>
              <a:t>JSON serialization of complex object graphs, defensive deserialization, null guards for evolving data models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971800"/>
            <a:ext cx="5669280" cy="1463040"/>
          </a:xfrm>
          <a:prstGeom prst="rect">
            <a:avLst/>
          </a:prstGeom>
          <a:solidFill>
            <a:srgbClr val="2E2E42"/>
          </a:solidFill>
          <a:ln w="6350">
            <a:solidFill>
              <a:srgbClr val="3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306324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</a:rPr>
              <a:t>AlarmManager &amp; Notifications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306324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BBF24"/>
                </a:solidFill>
              </a:rPr>
              <a:t>~12 hrs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474720"/>
            <a:ext cx="5394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F0"/>
                </a:solidFill>
              </a:rPr>
              <a:t>API 31+ exact alarm permissions, PendingIntent construction, ReminderReceiver broadcast, notification channels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2971800"/>
            <a:ext cx="5669280" cy="1463040"/>
          </a:xfrm>
          <a:prstGeom prst="rect">
            <a:avLst/>
          </a:prstGeom>
          <a:solidFill>
            <a:srgbClr val="2E2E42"/>
          </a:solidFill>
          <a:ln w="6350">
            <a:solidFill>
              <a:srgbClr val="3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46520" y="306324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</a:rPr>
              <a:t>Activity Lifecycle &amp; Intents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306324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BBF24"/>
                </a:solidFill>
              </a:rPr>
              <a:t>~10 hrs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474720"/>
            <a:ext cx="5394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F0"/>
                </a:solidFill>
              </a:rPr>
              <a:t>onResume() refresh patterns, Intent extras for index passing, static vs instance data pitfalls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572000"/>
            <a:ext cx="5669280" cy="1463040"/>
          </a:xfrm>
          <a:prstGeom prst="rect">
            <a:avLst/>
          </a:prstGeom>
          <a:solidFill>
            <a:srgbClr val="2E2E42"/>
          </a:solidFill>
          <a:ln w="6350">
            <a:solidFill>
              <a:srgbClr val="3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" y="466344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</a:rPr>
              <a:t>ItemTouchHelper Drag &amp; Swipe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466344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BBF24"/>
                </a:solidFill>
              </a:rPr>
              <a:t>~8 hrs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074920"/>
            <a:ext cx="5394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F0"/>
                </a:solidFill>
              </a:rPr>
              <a:t>SimpleCallback configuration, canDragOver() constraints, onChildDraw() custom swipe backgrounds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4572000"/>
            <a:ext cx="5669280" cy="1463040"/>
          </a:xfrm>
          <a:prstGeom prst="rect">
            <a:avLst/>
          </a:prstGeom>
          <a:solidFill>
            <a:srgbClr val="2E2E42"/>
          </a:solidFill>
          <a:ln w="6350">
            <a:solidFill>
              <a:srgbClr val="3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46520" y="466344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</a:rPr>
              <a:t>DayNight Theming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98480" y="466344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BBF24"/>
                </a:solidFill>
              </a:rPr>
              <a:t>~6 hrs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5074920"/>
            <a:ext cx="5394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F0"/>
                </a:solidFill>
              </a:rPr>
              <a:t>AppCompatDelegate modes, values vs values-night resource resolution, semantic color aliasing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3093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999AA"/>
                </a:solidFill>
              </a:rPr>
              <a:t>Total estimated learning hours: ~62 hrs  ·  Total project hours: ~108 hrs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164592"/>
            <a:ext cx="2011680" cy="29260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82879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1E2E"/>
                </a:solidFill>
              </a:rPr>
              <a:t>FEATURE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16459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Sections — Smart List Organization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74552" cy="18288"/>
          </a:xfrm>
          <a:prstGeom prst="rect">
            <a:avLst/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6858000" cy="4389120"/>
          </a:xfrm>
          <a:prstGeom prst="rect">
            <a:avLst/>
          </a:prstGeom>
          <a:solidFill>
            <a:srgbClr val="2E2E42"/>
          </a:solidFill>
          <a:ln w="6350">
            <a:solidFill>
              <a:srgbClr val="3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</a:rPr>
              <a:t>How Sections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6492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</a:rPr>
              <a:t>▸  Every list starts with one default (unnamed) section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95728"/>
            <a:ext cx="6492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</a:rPr>
              <a:t>▸  User adds named sections via FAB → 'New Section'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71216"/>
            <a:ext cx="6492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</a:rPr>
              <a:t>▸  If list is empty when first section added → default section removed (no 'Other')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346704"/>
            <a:ext cx="6492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</a:rPr>
              <a:t>▸  If list has items when first section added → items stay in default section, now labeled 'Other' at the bottom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822191"/>
            <a:ext cx="6492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</a:rPr>
              <a:t>▸  Named sections render first in creation order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297680"/>
            <a:ext cx="6492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</a:rPr>
              <a:t>▸  'Other' is always pinned to the bottom — display-only label, data model unchanged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773168"/>
            <a:ext cx="6492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</a:rPr>
              <a:t>▸  Deleting all named sections → default section auto-restored so list remains usable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248656"/>
            <a:ext cx="6492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</a:rPr>
              <a:t>▸  Section header: long-press to rename, trash icon to delete (with undo)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79" y="1325880"/>
            <a:ext cx="4297680" cy="4389120"/>
          </a:xfrm>
          <a:prstGeom prst="rect">
            <a:avLst/>
          </a:prstGeom>
          <a:solidFill>
            <a:srgbClr val="2E2E42"/>
          </a:solidFill>
          <a:ln w="6350">
            <a:solidFill>
              <a:srgbClr val="3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680960" y="14173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EE7B7"/>
                </a:solidFill>
              </a:rPr>
              <a:t>Flat List Architecture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1920240"/>
            <a:ext cx="3931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</a:rPr>
              <a:t>▸  ItemAdapter uses a flat Entry list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2450592"/>
            <a:ext cx="3931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</a:rPr>
              <a:t>▸  Entry kinds: HEADER, ITEM, FOOTER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2980944"/>
            <a:ext cx="3931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</a:rPr>
              <a:t>▸  buildFlatList() rebuilds on every change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3511296"/>
            <a:ext cx="3931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</a:rPr>
              <a:t>▸  Unchecked items rendered before checked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4041648"/>
            <a:ext cx="3931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</a:rPr>
              <a:t>▸  FOOTER = '+ Add item' tap target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4572000"/>
            <a:ext cx="3931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</a:rPr>
              <a:t>▸  HEADER only shown for named sections (or 'Other')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5102352"/>
            <a:ext cx="3931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</a:rPr>
              <a:t>▸  Drag constrained to same section via canDragOver()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164592"/>
            <a:ext cx="2011680" cy="29260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82879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1E2E"/>
                </a:solidFill>
              </a:rPr>
              <a:t>FEATURE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16459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Repeat — List-Level &amp; Item-Level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74552" cy="18288"/>
          </a:xfrm>
          <a:prstGeom prst="rect">
            <a:avLst/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5486400" cy="4389120"/>
          </a:xfrm>
          <a:prstGeom prst="rect">
            <a:avLst/>
          </a:prstGeom>
          <a:solidFill>
            <a:srgbClr val="2E2E42"/>
          </a:solidFill>
          <a:ln w="6350">
            <a:solidFill>
              <a:srgbClr val="3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</a:rPr>
              <a:t>List-Level Repeat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</a:rPr>
              <a:t>▸  Set via long-press on any list card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23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</a:rPr>
              <a:t>▸  Options: Weekly (day of week), Monthly (day of month), Yearly (MM-dd)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260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</a:rPr>
              <a:t>▸  Recurring lists are archived after completion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290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</a:rPr>
              <a:t>▸  checkRecurringLists() runs on every app launch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9319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</a:rPr>
              <a:t>▸  On due date: setArchived(false), resetItems(), setLastRestoredDate(today)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4348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</a:rPr>
              <a:t>▸  lastRestoredDate guards against same-day double-restore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9377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</a:rPr>
              <a:t>▸  Repeat label displayed on card: '↻ Every Monday'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325880"/>
            <a:ext cx="5669280" cy="4389120"/>
          </a:xfrm>
          <a:prstGeom prst="rect">
            <a:avLst/>
          </a:prstGeom>
          <a:solidFill>
            <a:srgbClr val="2E2E42"/>
          </a:solidFill>
          <a:ln w="6350">
            <a:solidFill>
              <a:srgbClr val="3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09360" y="14173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BBF24"/>
                </a:solidFill>
              </a:rPr>
              <a:t>Item-Level Repeat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19202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</a:rPr>
              <a:t>▸  Set via long-press on item → 'Set Repeat'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4231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</a:rPr>
              <a:t>▸  Same three types: weekly, monthly, yearly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9260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</a:rPr>
              <a:t>▸  Stored as recurringType/Value/lastRestoredDate on ShoppingItem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34290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</a:rPr>
              <a:t>▸  checkRecurringLists() inner loop walks all sections and items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9319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</a:rPr>
              <a:t>▸  On due date: item.setChecked(false) — item re-appears unchecked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44348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</a:rPr>
              <a:t>▸  Repeat icon (↻) shown on item row when active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49377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</a:rPr>
              <a:t>▸  Tapping repeat icon opens dialog directly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164592"/>
            <a:ext cx="2011680" cy="29260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82879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1E2E"/>
                </a:solidFill>
              </a:rPr>
              <a:t>FEATURE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16459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Item Reminders — AlarmManager &amp; Notifications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74552" cy="18288"/>
          </a:xfrm>
          <a:prstGeom prst="rect">
            <a:avLst/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6858000" cy="4389120"/>
          </a:xfrm>
          <a:prstGeom prst="rect">
            <a:avLst/>
          </a:prstGeom>
          <a:solidFill>
            <a:srgbClr val="2E2E42"/>
          </a:solidFill>
          <a:ln w="6350">
            <a:solidFill>
              <a:srgbClr val="3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</a:rPr>
              <a:t>How Reminders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6492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</a:rPr>
              <a:t>▸  User taps bell icon on any item row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77440"/>
            <a:ext cx="6492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</a:rPr>
              <a:t>▸  DatePickerDialog → TimePickerDialog (time optional, defaults 9:00 AM)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34640"/>
            <a:ext cx="6492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</a:rPr>
              <a:t>▸  Validation: date required, time must be in the future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91840"/>
            <a:ext cx="6492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</a:rPr>
              <a:t>▸  cancelReminder() called first to avoid duplicate alarms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49039"/>
            <a:ext cx="6492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</a:rPr>
              <a:t>▸  scheduleReminder() constructs PendingIntent with item_name + list_name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206240"/>
            <a:ext cx="6492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</a:rPr>
              <a:t>▸  Request code = (itemName + triggerTime).hashCode() — unique per alarm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63440"/>
            <a:ext cx="6492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</a:rPr>
              <a:t>▸  API 31+: checks canScheduleExactAlarms() before setExactAndAllowWhileIdle()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120640"/>
            <a:ext cx="6492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</a:rPr>
              <a:t>▸  ReminderReceiver fires on alarm → builds high-priority notification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577840"/>
            <a:ext cx="6492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</a:rPr>
              <a:t>▸  Bell icon turns violet (filled) when reminder is active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79" y="1325880"/>
            <a:ext cx="4297680" cy="4389120"/>
          </a:xfrm>
          <a:prstGeom prst="rect">
            <a:avLst/>
          </a:prstGeom>
          <a:solidFill>
            <a:srgbClr val="2E2E42"/>
          </a:solidFill>
          <a:ln w="6350">
            <a:solidFill>
              <a:srgbClr val="3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680960" y="14173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BBF24"/>
                </a:solidFill>
              </a:rPr>
              <a:t>Permissions Required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192024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F0"/>
                </a:solidFill>
              </a:rPr>
              <a:t>▸  POST_NOTIFICATIONS (Android 13+)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246888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F0"/>
                </a:solidFill>
              </a:rPr>
              <a:t>▸  USE_EXACT_ALARM (Android 12+)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301752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F0"/>
                </a:solidFill>
              </a:rPr>
              <a:t>▸  RECEIVE_BOOT_COMPLETED (reschedule on reboot)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333756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BBF24"/>
                </a:solidFill>
              </a:rPr>
              <a:t>Notification Channel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3749039"/>
            <a:ext cx="3931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F0"/>
                </a:solidFill>
              </a:rPr>
              <a:t>CHANNEL_ID: listkeepr_reminders
Importance: HIGH
Auto-cancel: true
Small icon: ic_bell_filled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164592"/>
            <a:ext cx="2011680" cy="29260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82879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1E2E"/>
                </a:solidFill>
              </a:rPr>
              <a:t>FEATURE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16459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Feature Abandoned — Custom StrikeTextView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74552" cy="18288"/>
          </a:xfrm>
          <a:prstGeom prst="rect">
            <a:avLst/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5394960" cy="4389120"/>
          </a:xfrm>
          <a:prstGeom prst="rect">
            <a:avLst/>
          </a:prstGeom>
          <a:solidFill>
            <a:srgbClr val="2E2E42"/>
          </a:solidFill>
          <a:ln w="6350">
            <a:solidFill>
              <a:srgbClr val="3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BBF24"/>
                </a:solidFill>
              </a:rPr>
              <a:t>What Was Attempted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F0"/>
                </a:solidFill>
              </a:rPr>
              <a:t>To make the strikethrough on completed items more visible, a custom StrikeTextView class was implemented extending AppCompatTextView. It drew a black strikethrough line independently via Canvas.drawLine() in onDraw(), separate from the text color.
This allowed the strikethrough color (black) to differ from the text color (violet) — something Android's Paint.STRIKE_THRU_TEXT_FLAG cannot do natively.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1325880"/>
            <a:ext cx="5760720" cy="4389120"/>
          </a:xfrm>
          <a:prstGeom prst="rect">
            <a:avLst/>
          </a:prstGeom>
          <a:solidFill>
            <a:srgbClr val="2E2E42"/>
          </a:solidFill>
          <a:ln w="6350">
            <a:solidFill>
              <a:srgbClr val="3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7920" y="141732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060"/>
                </a:solidFill>
              </a:rPr>
              <a:t>Why It Was Scrapped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920240"/>
            <a:ext cx="5394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</a:rPr>
              <a:t>▸  Added a new Java file and modified list_item.xml, ItemViewHolder — significant scope for a visual tweak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670048"/>
            <a:ext cx="5394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</a:rPr>
              <a:t>▸  Required casting in ItemTouchHelper — added fragility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3419856"/>
            <a:ext cx="5394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</a:rPr>
              <a:t>▸  The real fix was simpler: raise alpha from 0.4 → 0.65 and tint text with accent_violet_light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4169664"/>
            <a:ext cx="5394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</a:rPr>
              <a:t>▸  Higher alpha + color tint made the strikethrough clearly visible without custom drawing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4919472"/>
            <a:ext cx="5394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</a:rPr>
              <a:t>▸  Lesson: always try the simplest solution first before custom view subclassing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164592"/>
            <a:ext cx="2011680" cy="29260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82879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1E2E"/>
                </a:solidFill>
              </a:rPr>
              <a:t>COMING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16459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Feature I'm Excited to Complete — List Sharing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74552" cy="18288"/>
          </a:xfrm>
          <a:prstGeom prst="rect">
            <a:avLst/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6858000" cy="4389120"/>
          </a:xfrm>
          <a:prstGeom prst="rect">
            <a:avLst/>
          </a:prstGeom>
          <a:solidFill>
            <a:srgbClr val="2E2E42"/>
          </a:solidFill>
          <a:ln w="6350">
            <a:solidFill>
              <a:srgbClr val="3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</a:rPr>
              <a:t>The Feature: Collaborative List Sharing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6492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F0"/>
                </a:solidFill>
              </a:rPr>
              <a:t>Allow users to share individual lists with others, granting either read-only or read-write access — similar to how Apple Reminders handles shared lists via iCloud.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06040"/>
            <a:ext cx="6492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4B5FD"/>
                </a:solidFill>
              </a:rPr>
              <a:t>▸  Owner invites collaborators via email or link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08960"/>
            <a:ext cx="6492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4B5FD"/>
                </a:solidFill>
              </a:rPr>
              <a:t>▸  Read-only: collaborator sees list, cannot edit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611880"/>
            <a:ext cx="6492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4B5FD"/>
                </a:solidFill>
              </a:rPr>
              <a:t>▸  Read-write: collaborator can add, check, delete items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114800"/>
            <a:ext cx="6492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4B5FD"/>
                </a:solidFill>
              </a:rPr>
              <a:t>▸  Real-time sync across all participants' devices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617720"/>
            <a:ext cx="6492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4B5FD"/>
                </a:solidFill>
              </a:rPr>
              <a:t>▸  Owner can revoke access or change permissions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349240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BBF24"/>
                </a:solidFill>
              </a:rPr>
              <a:t>Status: Architecture identified — awaiting supervisor confirmation before implementation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79" y="1325880"/>
            <a:ext cx="4297680" cy="4389120"/>
          </a:xfrm>
          <a:prstGeom prst="rect">
            <a:avLst/>
          </a:prstGeom>
          <a:solidFill>
            <a:srgbClr val="2E2E42"/>
          </a:solidFill>
          <a:ln w="6350">
            <a:solidFill>
              <a:srgbClr val="3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680960" y="14173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EE7B7"/>
                </a:solidFill>
              </a:rPr>
              <a:t>Why Firebase?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192024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F0"/>
                </a:solidFill>
              </a:rPr>
              <a:t>▸  Firebase Firestore: real-time sync built 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2487168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F0"/>
                </a:solidFill>
              </a:rPr>
              <a:t>▸  Firebase Auth: user identity + permissions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3054096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F0"/>
                </a:solidFill>
              </a:rPr>
              <a:t>▸  Per-document security rules for read/write access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3621024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F0"/>
                </a:solidFill>
              </a:rPr>
              <a:t>▸  Free tier sufficient for a student project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4187952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F0"/>
                </a:solidFill>
              </a:rPr>
              <a:t>▸  Most popular cloud backend for Android apps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475488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F0"/>
                </a:solidFill>
              </a:rPr>
              <a:t>▸  Migration path: SharedPreferences → Firestore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164592"/>
            <a:ext cx="2011680" cy="29260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82879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1E2E"/>
                </a:solidFill>
              </a:rPr>
              <a:t>PROJECT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16459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The Value of ListKeepr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74552" cy="18288"/>
          </a:xfrm>
          <a:prstGeom prst="rect">
            <a:avLst/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1188720"/>
          </a:xfrm>
          <a:prstGeom prst="rect">
            <a:avLst/>
          </a:prstGeom>
          <a:solidFill>
            <a:srgbClr val="2E2E42"/>
          </a:solidFill>
          <a:ln w="6350">
            <a:solidFill>
              <a:srgbClr val="3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64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E8E8F0"/>
                </a:solidFill>
              </a:rPr>
              <a:t>Because ListKeepr exists, users have a single offline-first tool that replaces the need for three separate apps — a notes app for lists, a calendar app for recurring reminders, and an alarm app for item notifications.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743200"/>
            <a:ext cx="5669280" cy="1554480"/>
          </a:xfrm>
          <a:prstGeom prst="rect">
            <a:avLst/>
          </a:prstGeom>
          <a:solidFill>
            <a:srgbClr val="2E2E42"/>
          </a:solidFill>
          <a:ln w="6350">
            <a:solidFill>
              <a:srgbClr val="3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5760" y="2743200"/>
            <a:ext cx="109728" cy="155448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283464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</a:rPr>
              <a:t>One App, Three Jobs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273552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F0"/>
                </a:solidFill>
              </a:rPr>
              <a:t>Replaces Google Keep (lists) + Calendar (recurrence) + Clock (reminders) in a single focused interface.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2743200"/>
            <a:ext cx="5669280" cy="1554480"/>
          </a:xfrm>
          <a:prstGeom prst="rect">
            <a:avLst/>
          </a:prstGeom>
          <a:solidFill>
            <a:srgbClr val="2E2E42"/>
          </a:solidFill>
          <a:ln w="6350">
            <a:solidFill>
              <a:srgbClr val="3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09360" y="2743200"/>
            <a:ext cx="109728" cy="155448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37960" y="283464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</a:rPr>
              <a:t>Offline First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3273552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F0"/>
                </a:solidFill>
              </a:rPr>
              <a:t>100% of functionality available without internet. No account required. Data never leaves the device.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480560"/>
            <a:ext cx="5669280" cy="1554480"/>
          </a:xfrm>
          <a:prstGeom prst="rect">
            <a:avLst/>
          </a:prstGeom>
          <a:solidFill>
            <a:srgbClr val="2E2E42"/>
          </a:solidFill>
          <a:ln w="6350">
            <a:solidFill>
              <a:srgbClr val="3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65760" y="4480560"/>
            <a:ext cx="109728" cy="155448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" y="457200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</a:rPr>
              <a:t>Automation Saves 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5010912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F0"/>
                </a:solidFill>
              </a:rPr>
              <a:t>Recurring lists restore themselves on schedule — grocery lists, chores, homework — zero manual effort.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4480560"/>
            <a:ext cx="5669280" cy="1554480"/>
          </a:xfrm>
          <a:prstGeom prst="rect">
            <a:avLst/>
          </a:prstGeom>
          <a:solidFill>
            <a:srgbClr val="2E2E42"/>
          </a:solidFill>
          <a:ln w="6350">
            <a:solidFill>
              <a:srgbClr val="3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309360" y="4480560"/>
            <a:ext cx="109728" cy="155448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37960" y="457200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</a:rPr>
              <a:t>Accessible UX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5010912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F0"/>
                </a:solidFill>
              </a:rPr>
              <a:t>Plain language ('Repeat' not 'Recurrence'), consistent gestures, and clear visual states reduce cognitive load.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164592"/>
            <a:ext cx="2011680" cy="29260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82879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1E2E"/>
                </a:solidFill>
              </a:rPr>
              <a:t>REPRODUCIBILITY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16459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If Someone Wanted to Attempt This Project Next Semester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74552" cy="18288"/>
          </a:xfrm>
          <a:prstGeom prst="rect">
            <a:avLst/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5394960" cy="4389120"/>
          </a:xfrm>
          <a:prstGeom prst="rect">
            <a:avLst/>
          </a:prstGeom>
          <a:solidFill>
            <a:srgbClr val="2E2E42"/>
          </a:solidFill>
          <a:ln w="6350">
            <a:solidFill>
              <a:srgbClr val="3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</a:rPr>
              <a:t>Prerequisites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F0"/>
                </a:solidFill>
              </a:rPr>
              <a:t>▸  Java fundamentals (OOP, interfaces, lambdas)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5059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F0"/>
                </a:solidFill>
              </a:rPr>
              <a:t>▸  Android Studio installed + emulator configured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80944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F0"/>
                </a:solidFill>
              </a:rPr>
              <a:t>▸  Basic understanding of XML layouts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11296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F0"/>
                </a:solidFill>
              </a:rPr>
              <a:t>▸  Git for version 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4164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F0"/>
                </a:solidFill>
              </a:rPr>
              <a:t>▸  Patience with Android's learning curve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703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BBF24"/>
                </a:solidFill>
              </a:rPr>
              <a:t>Concepts to Learn First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16052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F0"/>
                </a:solidFill>
              </a:rPr>
              <a:t>▸  Activity lifecycle &amp; Intents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54456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F0"/>
                </a:solidFill>
              </a:rPr>
              <a:t>▸  RecyclerView + Adapter pattern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92861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F0"/>
                </a:solidFill>
              </a:rPr>
              <a:t>▸  SharedPreferences + Gson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31266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F0"/>
                </a:solidFill>
              </a:rPr>
              <a:t>▸  AlarmManager + BroadcastReceiver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1325880"/>
            <a:ext cx="5760720" cy="4389120"/>
          </a:xfrm>
          <a:prstGeom prst="rect">
            <a:avLst/>
          </a:prstGeom>
          <a:solidFill>
            <a:srgbClr val="2E2E42"/>
          </a:solidFill>
          <a:ln w="6350">
            <a:solidFill>
              <a:srgbClr val="3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17920" y="141732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EE7B7"/>
                </a:solidFill>
              </a:rPr>
              <a:t>Estimated Hour Breakdown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192024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</a:rPr>
              <a:t>Learning Android fundamentals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192024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50" b="0" i="0">
                <a:solidFill>
                  <a:srgbClr val="FBBF24"/>
                </a:solidFill>
              </a:rPr>
              <a:t>~30 hrs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2395728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</a:rPr>
              <a:t>Designing data models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2395728"/>
            <a:ext cx="1554480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50" b="0" i="0" dirty="0">
                <a:solidFill>
                  <a:srgbClr val="FBBF24"/>
                </a:solidFill>
              </a:rPr>
              <a:t>~</a:t>
            </a:r>
            <a:r>
              <a:rPr lang="en-US" sz="1150" b="0" i="0" dirty="0">
                <a:solidFill>
                  <a:srgbClr val="FBBF24"/>
                </a:solidFill>
              </a:rPr>
              <a:t>27</a:t>
            </a:r>
            <a:r>
              <a:rPr sz="1150" b="0" i="0" dirty="0">
                <a:solidFill>
                  <a:srgbClr val="FBBF24"/>
                </a:solidFill>
              </a:rPr>
              <a:t> </a:t>
            </a:r>
            <a:r>
              <a:rPr sz="1150" b="0" i="0" dirty="0" err="1">
                <a:solidFill>
                  <a:srgbClr val="FBBF24"/>
                </a:solidFill>
              </a:rPr>
              <a:t>hrs</a:t>
            </a:r>
            <a:endParaRPr sz="1150" b="0" i="0" dirty="0">
              <a:solidFill>
                <a:srgbClr val="FBBF24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217920" y="2871216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</a:rPr>
              <a:t>Building core UI + navigation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2871216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50" b="0" i="0">
                <a:solidFill>
                  <a:srgbClr val="FBBF24"/>
                </a:solidFill>
              </a:rPr>
              <a:t>~15 hrs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3346704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</a:rPr>
              <a:t>Implementing persistence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3346704"/>
            <a:ext cx="1554480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50" b="0" i="0" dirty="0">
                <a:solidFill>
                  <a:srgbClr val="FBBF24"/>
                </a:solidFill>
              </a:rPr>
              <a:t>~</a:t>
            </a:r>
            <a:r>
              <a:rPr lang="en-US" sz="1150" dirty="0">
                <a:solidFill>
                  <a:srgbClr val="FBBF24"/>
                </a:solidFill>
              </a:rPr>
              <a:t>20</a:t>
            </a:r>
            <a:r>
              <a:rPr sz="1150" b="0" i="0" dirty="0">
                <a:solidFill>
                  <a:srgbClr val="FBBF24"/>
                </a:solidFill>
              </a:rPr>
              <a:t> </a:t>
            </a:r>
            <a:r>
              <a:rPr sz="1150" b="0" i="0" dirty="0" err="1">
                <a:solidFill>
                  <a:srgbClr val="FBBF24"/>
                </a:solidFill>
              </a:rPr>
              <a:t>hrs</a:t>
            </a:r>
            <a:endParaRPr sz="1150" b="0" i="0" dirty="0">
              <a:solidFill>
                <a:srgbClr val="FBBF24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217920" y="3822191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</a:rPr>
              <a:t>Recurring + reminder features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3822191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50" b="0" i="0">
                <a:solidFill>
                  <a:srgbClr val="FBBF24"/>
                </a:solidFill>
              </a:rPr>
              <a:t>~25 hrs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429768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</a:rPr>
              <a:t>Sections + drag + theme features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429768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50" b="0" i="0">
                <a:solidFill>
                  <a:srgbClr val="FBBF24"/>
                </a:solidFill>
              </a:rPr>
              <a:t>~15 hrs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4773168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</a:rPr>
              <a:t>Debugging + testing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4773168"/>
            <a:ext cx="1554480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50" b="0" i="0" dirty="0">
                <a:solidFill>
                  <a:srgbClr val="FBBF24"/>
                </a:solidFill>
              </a:rPr>
              <a:t>~</a:t>
            </a:r>
            <a:r>
              <a:rPr lang="en-US" sz="1150" dirty="0">
                <a:solidFill>
                  <a:srgbClr val="FBBF24"/>
                </a:solidFill>
              </a:rPr>
              <a:t>40</a:t>
            </a:r>
            <a:r>
              <a:rPr sz="1150" b="0" i="0" dirty="0">
                <a:solidFill>
                  <a:srgbClr val="FBBF24"/>
                </a:solidFill>
              </a:rPr>
              <a:t> </a:t>
            </a:r>
            <a:r>
              <a:rPr sz="1150" b="0" i="0" dirty="0" err="1">
                <a:solidFill>
                  <a:srgbClr val="FBBF24"/>
                </a:solidFill>
              </a:rPr>
              <a:t>hrs</a:t>
            </a:r>
            <a:endParaRPr sz="1150" b="0" i="0" dirty="0">
              <a:solidFill>
                <a:srgbClr val="FBBF24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217920" y="5248656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</a:rPr>
              <a:t>Documentation + presentation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0" y="5248656"/>
            <a:ext cx="1554480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50" b="0" i="0" dirty="0">
                <a:solidFill>
                  <a:srgbClr val="FBBF24"/>
                </a:solidFill>
              </a:rPr>
              <a:t>~</a:t>
            </a:r>
            <a:r>
              <a:rPr lang="en-US" sz="1150" dirty="0">
                <a:solidFill>
                  <a:srgbClr val="FBBF24"/>
                </a:solidFill>
              </a:rPr>
              <a:t>28</a:t>
            </a:r>
            <a:r>
              <a:rPr sz="1150" b="0" i="0" dirty="0">
                <a:solidFill>
                  <a:srgbClr val="FBBF24"/>
                </a:solidFill>
              </a:rPr>
              <a:t> </a:t>
            </a:r>
            <a:r>
              <a:rPr sz="1150" b="0" i="0" dirty="0" err="1">
                <a:solidFill>
                  <a:srgbClr val="FBBF24"/>
                </a:solidFill>
              </a:rPr>
              <a:t>hrs</a:t>
            </a:r>
            <a:endParaRPr sz="1150" b="0" i="0" dirty="0">
              <a:solidFill>
                <a:srgbClr val="FBBF24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217920" y="5760720"/>
            <a:ext cx="54864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A78BFA"/>
                </a:solidFill>
              </a:rPr>
              <a:t>Total: ~</a:t>
            </a:r>
            <a:r>
              <a:rPr lang="en-US" sz="1300" b="1" dirty="0">
                <a:solidFill>
                  <a:srgbClr val="A78BFA"/>
                </a:solidFill>
              </a:rPr>
              <a:t>200</a:t>
            </a:r>
            <a:r>
              <a:rPr sz="1300" b="1" i="0" dirty="0">
                <a:solidFill>
                  <a:srgbClr val="A78BFA"/>
                </a:solidFill>
              </a:rPr>
              <a:t> </a:t>
            </a:r>
            <a:r>
              <a:rPr sz="1300" b="1" i="0" dirty="0" err="1">
                <a:solidFill>
                  <a:srgbClr val="A78BFA"/>
                </a:solidFill>
              </a:rPr>
              <a:t>hrs</a:t>
            </a:r>
            <a:endParaRPr sz="1300" b="1" i="0" dirty="0">
              <a:solidFill>
                <a:srgbClr val="A78BFA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164592"/>
            <a:ext cx="2011680" cy="29260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82879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1E2E"/>
                </a:solidFill>
              </a:rPr>
              <a:t>PROGRESS TRACKING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16459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How On-Track Am I With Initial Plans?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74552" cy="18288"/>
          </a:xfrm>
          <a:prstGeom prst="rect">
            <a:avLst/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5394960" cy="1920240"/>
          </a:xfrm>
          <a:prstGeom prst="rect">
            <a:avLst/>
          </a:prstGeom>
          <a:solidFill>
            <a:srgbClr val="2E2E42"/>
          </a:solidFill>
          <a:ln w="6350">
            <a:solidFill>
              <a:srgbClr val="3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EE7B7"/>
                </a:solidFill>
              </a:rPr>
              <a:t>✓  Delivered On Schedule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74519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</a:rPr>
              <a:t>▸  All core features from the wireframe stage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3055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</a:rPr>
              <a:t>▸  Persistent storage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86584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</a:rPr>
              <a:t>▸  Archive/restore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42615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</a:rPr>
              <a:t>▸  Item management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898648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</a:rPr>
              <a:t>▸  Recurring lists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1325880"/>
            <a:ext cx="5760720" cy="1920240"/>
          </a:xfrm>
          <a:prstGeom prst="rect">
            <a:avLst/>
          </a:prstGeom>
          <a:solidFill>
            <a:srgbClr val="2E2E42"/>
          </a:solidFill>
          <a:ln w="6350">
            <a:solidFill>
              <a:srgbClr val="3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0" y="141732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BBF24"/>
                </a:solidFill>
              </a:rPr>
              <a:t>⟳  Added Beyond Original Plan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874519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</a:rPr>
              <a:t>▸  Item-level recurrence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130552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</a:rPr>
              <a:t>▸  Item reminders (AlarmManager)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386584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</a:rPr>
              <a:t>▸  Sections within lists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642615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</a:rPr>
              <a:t>▸  Light/Dark mode toggle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898648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</a:rPr>
              <a:t>▸  Drag reorder for lists and items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429000"/>
            <a:ext cx="11430000" cy="2286000"/>
          </a:xfrm>
          <a:prstGeom prst="rect">
            <a:avLst/>
          </a:prstGeom>
          <a:solidFill>
            <a:srgbClr val="2E2E42"/>
          </a:solidFill>
          <a:ln w="6350">
            <a:solidFill>
              <a:srgbClr val="3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35204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</a:rPr>
              <a:t>⏳  Still Planned / Deferred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977639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4B5FD"/>
                </a:solidFill>
              </a:rPr>
              <a:t>List Sharing via Firebase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34340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99AA"/>
                </a:solidFill>
              </a:rPr>
              <a:t>Architecture identified (Firestore + Firebase Auth). Awaiting supervisor confirmation.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3977639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4B5FD"/>
                </a:solidFill>
              </a:rPr>
              <a:t>Move Item Between Sections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79" y="434340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99AA"/>
                </a:solidFill>
              </a:rPr>
              <a:t>'Move to Section' option in long-press menu. Design decided, not yet coded.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19" y="3977639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4B5FD"/>
                </a:solidFill>
              </a:rPr>
              <a:t>Holiday / Special Date Recurrence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19" y="434340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99AA"/>
                </a:solidFill>
              </a:rPr>
              <a:t>UI placeholder already in recurrence dialog (disabled). Implementation deferred.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164592"/>
            <a:ext cx="2011680" cy="29260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82879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1E2E"/>
                </a:solidFill>
              </a:rPr>
              <a:t>CODE SPOTLIGHT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16459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Code Spotlight — Flat List Entry Pattern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74552" cy="18288"/>
          </a:xfrm>
          <a:prstGeom prst="rect">
            <a:avLst/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6583680" cy="4389120"/>
          </a:xfrm>
          <a:prstGeom prst="rect">
            <a:avLst/>
          </a:prstGeom>
          <a:solidFill>
            <a:srgbClr val="161624"/>
          </a:solidFill>
          <a:ln w="6350">
            <a:solidFill>
              <a:srgbClr val="3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6309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EE7B7"/>
                </a:solidFill>
              </a:rPr>
              <a:t>private static class Entry {
  static final int KIND_HEADER = 0;
  static final int KIND_ITEM   = 1;
  static final int KIND_FOOTER = 2;
  int kind;
  ListSection section;
  ShoppingItem item;
  int sectionIndex;
  static Entry footer(ListSection s, int idx) {
    Entry e = new Entry();
    e.kind = KIND_FOOTER;
    e.section = s;
    e.sectionIndex = idx;
    return e;
  }
}</a:t>
            </a:r>
          </a:p>
        </p:txBody>
      </p:sp>
      <p:sp>
        <p:nvSpPr>
          <p:cNvPr id="8" name="Rectangle 7"/>
          <p:cNvSpPr/>
          <p:nvPr/>
        </p:nvSpPr>
        <p:spPr>
          <a:xfrm>
            <a:off x="7178040" y="1325880"/>
            <a:ext cx="4617720" cy="4389120"/>
          </a:xfrm>
          <a:prstGeom prst="rect">
            <a:avLst/>
          </a:prstGeom>
          <a:solidFill>
            <a:srgbClr val="2E2E42"/>
          </a:solidFill>
          <a:ln w="6350">
            <a:solidFill>
              <a:srgbClr val="3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60920" y="1417320"/>
            <a:ext cx="4251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</a:rPr>
              <a:t>Why This Pattern?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1920240"/>
            <a:ext cx="4251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</a:rPr>
              <a:t>▸  RecyclerView needs one flat list — but data is nested (List &gt; Section &gt; Item)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0920" y="2514600"/>
            <a:ext cx="4251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</a:rPr>
              <a:t>▸  Entry wraps any row type: section header, item row, or 'Add item' footer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3108960"/>
            <a:ext cx="4251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</a:rPr>
              <a:t>▸  buildFlatList() rebuilds the flat list on every change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0920" y="3703320"/>
            <a:ext cx="4251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</a:rPr>
              <a:t>▸  getItemViewType() routes each Entry to the correct ViewHolder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4297680"/>
            <a:ext cx="4251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</a:rPr>
              <a:t>▸  Unchecked items rendered before checked — sorted at build time not in adapter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60920" y="4892040"/>
            <a:ext cx="4251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</a:rPr>
              <a:t>▸  Drag constrained to same section: canDragOver() checks entry.section identity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164592"/>
            <a:ext cx="2011680" cy="29260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82879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1E2E"/>
                </a:solidFill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16459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Conclusion and 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74552" cy="18288"/>
          </a:xfrm>
          <a:prstGeom prst="rect">
            <a:avLst/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1234440"/>
          </a:xfrm>
          <a:prstGeom prst="rect">
            <a:avLst/>
          </a:prstGeom>
          <a:solidFill>
            <a:srgbClr val="2E2E42"/>
          </a:solidFill>
          <a:ln w="6350">
            <a:solidFill>
              <a:srgbClr val="3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E8F0"/>
                </a:solidFill>
              </a:rPr>
              <a:t>ListKeepr is a fully functional, offline Android list management app featuring recurring automation, item-level reminders, sections, archive/restore, light/dark mode, and a clean Material Design interface — built entirely in Java by a single developer over Spring 2026.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788920"/>
            <a:ext cx="5394960" cy="2468880"/>
          </a:xfrm>
          <a:prstGeom prst="rect">
            <a:avLst/>
          </a:prstGeom>
          <a:solidFill>
            <a:srgbClr val="2E2E42"/>
          </a:solidFill>
          <a:ln w="6350">
            <a:solidFill>
              <a:srgbClr val="3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2880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</a:rPr>
              <a:t>Key Takeaways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337560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</a:rPr>
              <a:t>▸  Android has a steep learning curve — budget 30+ hrs for fundamentals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813048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</a:rPr>
              <a:t>▸  Architecture-first development prevented major refactors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288536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</a:rPr>
              <a:t>▸  Operate on objects, not indices — the lesson that improved the whole codebase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764024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</a:rPr>
              <a:t>▸  Simple solutions often beat custom implementations (StrikeTextView lesson)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2788920"/>
            <a:ext cx="5760720" cy="2468880"/>
          </a:xfrm>
          <a:prstGeom prst="rect">
            <a:avLst/>
          </a:prstGeom>
          <a:solidFill>
            <a:srgbClr val="2E2E42"/>
          </a:solidFill>
          <a:ln w="6350">
            <a:solidFill>
              <a:srgbClr val="3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17920" y="288036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BBF24"/>
                </a:solidFill>
              </a:rPr>
              <a:t>Still Coming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3337560"/>
            <a:ext cx="5394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</a:rPr>
              <a:t>▸  List sharing via Firebase (pending supervisor approval)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3813048"/>
            <a:ext cx="5394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</a:rPr>
              <a:t>▸  'Move to Section' in item long-press menu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4288536"/>
            <a:ext cx="5394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</a:rPr>
              <a:t>▸  Holiday / Special Date recurrence option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4764024"/>
            <a:ext cx="5394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</a:rPr>
              <a:t>▸  Final presentation polish and edge case testing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88952" cy="2286000"/>
          </a:xfrm>
          <a:prstGeom prst="rect">
            <a:avLst/>
          </a:prstGeom>
          <a:solidFill>
            <a:srgbClr val="2A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42316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A78BFA"/>
                </a:solidFill>
              </a:rPr>
              <a:t>Project Links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246120"/>
            <a:ext cx="3200400" cy="1051560"/>
          </a:xfrm>
          <a:prstGeom prst="rect">
            <a:avLst/>
          </a:prstGeom>
          <a:solidFill>
            <a:srgbClr val="2E2E42"/>
          </a:solidFill>
          <a:ln w="6350">
            <a:solidFill>
              <a:srgbClr val="3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333756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78BFA"/>
                </a:solidFill>
              </a:rPr>
              <a:t>GitHub Repository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749039"/>
            <a:ext cx="29260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rgbClr val="9999AA"/>
                </a:solidFill>
              </a:rPr>
              <a:t>https://github.com/Lunaris47/shopping-list-app.git</a:t>
            </a:r>
            <a:endParaRPr sz="1100" b="0" i="0" dirty="0">
              <a:solidFill>
                <a:srgbClr val="9999AA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480560" y="3154680"/>
            <a:ext cx="3200400" cy="1051560"/>
          </a:xfrm>
          <a:prstGeom prst="rect">
            <a:avLst/>
          </a:prstGeom>
          <a:solidFill>
            <a:srgbClr val="2E2E42"/>
          </a:solidFill>
          <a:ln w="6350">
            <a:solidFill>
              <a:srgbClr val="3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17720" y="333756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78BFA"/>
                </a:solidFill>
              </a:rPr>
              <a:t>Time Log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3690588"/>
            <a:ext cx="292608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rgbClr val="9999AA"/>
                </a:solidFill>
              </a:rPr>
              <a:t>https://docs.google.com/spreadsheets/d/12Kkz-lQwRFL91YFwGoeiRXDg8Z8G7y4WkRTPSRhiW0k/edit?usp=sharing</a:t>
            </a:r>
            <a:endParaRPr sz="1100" b="0" i="0" dirty="0">
              <a:solidFill>
                <a:srgbClr val="9999AA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046720" y="3246120"/>
            <a:ext cx="3200400" cy="1051560"/>
          </a:xfrm>
          <a:prstGeom prst="rect">
            <a:avLst/>
          </a:prstGeom>
          <a:solidFill>
            <a:srgbClr val="2E2E42"/>
          </a:solidFill>
          <a:ln w="6350">
            <a:solidFill>
              <a:srgbClr val="3A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83880" y="333756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78BFA"/>
                </a:solidFill>
              </a:rPr>
              <a:t>GitHub Project 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80" y="3749039"/>
            <a:ext cx="29260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hlinkClick r:id="rId2"/>
              </a:rPr>
              <a:t>View 1 · Myfi stapp Tracker</a:t>
            </a:r>
            <a:endParaRPr sz="1100" b="0" i="0" dirty="0">
              <a:solidFill>
                <a:srgbClr val="9999AA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7200" y="502920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999AA"/>
                </a:solidFill>
              </a:rPr>
              <a:t>Jesse Sciamanna  ·  CISC 4900 Work-Study  ·  Brooklyn College  ·  Spring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3724</Words>
  <Application>Microsoft Office PowerPoint</Application>
  <PresentationFormat>Custom</PresentationFormat>
  <Paragraphs>492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Jesse</dc:creator>
  <cp:keywords/>
  <dc:description>generated using python-pptx</dc:description>
  <cp:lastModifiedBy>Lunaris 🎶</cp:lastModifiedBy>
  <cp:revision>2</cp:revision>
  <dcterms:created xsi:type="dcterms:W3CDTF">2013-01-27T09:14:16Z</dcterms:created>
  <dcterms:modified xsi:type="dcterms:W3CDTF">2026-05-08T22:02:37Z</dcterms:modified>
  <cp:category/>
</cp:coreProperties>
</file>